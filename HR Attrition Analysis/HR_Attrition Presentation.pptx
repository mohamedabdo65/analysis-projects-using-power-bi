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9716F"/>
    <a:srgbClr val="D4B4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400" b="0" i="0" u="none" strike="noStrike">
                <a:solidFill>
                  <a:srgbClr val="16424A"/>
                </a:solidFill>
                <a:latin typeface="Calibri"/>
              </a:defRPr>
            </a:pPr>
            <a:r>
              <a:rPr lang="en-US" sz="1400" b="0" i="0" u="none" strike="noStrike" dirty="0">
                <a:solidFill>
                  <a:srgbClr val="16424A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Attrition Rate by Risk Score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042605313563927"/>
          <c:y val="0.12805443045928183"/>
          <c:w val="0.8727015467730006"/>
          <c:h val="0.6961917205442151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Rate</c:v>
                </c:pt>
              </c:strCache>
            </c:strRef>
          </c:tx>
          <c:spPr>
            <a:solidFill>
              <a:srgbClr val="1F6F7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C2B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6.3</c:v>
                </c:pt>
                <c:pt idx="1">
                  <c:v>7.7</c:v>
                </c:pt>
                <c:pt idx="2">
                  <c:v>13.2</c:v>
                </c:pt>
                <c:pt idx="3">
                  <c:v>24.6</c:v>
                </c:pt>
                <c:pt idx="4">
                  <c:v>45.9</c:v>
                </c:pt>
                <c:pt idx="5">
                  <c:v>66.7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BDB-47C5-84FB-CE2A40C28B0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B7B7D"/>
                    </a:solidFill>
                    <a:latin typeface="Arial"/>
                  </a:defRPr>
                </a:pPr>
                <a:r>
                  <a:rPr lang="en-US" sz="1100" b="0" i="0" u="none" strike="noStrike" dirty="0">
                    <a:solidFill>
                      <a:schemeClr val="tx1"/>
                    </a:solidFill>
                    <a:latin typeface="Segoe UI Semibold" panose="020B0702040204020203" pitchFamily="34" charset="0"/>
                    <a:cs typeface="Segoe UI Semibold" panose="020B0702040204020203" pitchFamily="34" charset="0"/>
                  </a:rPr>
                  <a:t>Risk Score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5"/>
        </c:scaling>
        <c:delete val="0"/>
        <c:axPos val="l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B7B7D"/>
                    </a:solidFill>
                    <a:latin typeface="Arial"/>
                  </a:defRPr>
                </a:pPr>
                <a:r>
                  <a:rPr lang="en-US" sz="1100" b="0" i="0" u="none" strike="noStrike" dirty="0">
                    <a:solidFill>
                      <a:schemeClr val="tx1"/>
                    </a:solidFill>
                    <a:latin typeface="Segoe UI Semibold" panose="020B0702040204020203" pitchFamily="34" charset="0"/>
                    <a:cs typeface="Segoe UI Semibold" panose="020B0702040204020203" pitchFamily="34" charset="0"/>
                  </a:rPr>
                  <a:t>Attrition Rate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5A9161-B2A6-4264-8648-E8868AA78417}" type="datetimeFigureOut">
              <a:rPr lang="en-US" smtClean="0"/>
              <a:t>24/09/2026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CA0D85-8058-4808-952A-01AED6E2D9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6488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CA0D85-8058-4808-952A-01AED6E2D9D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4142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60793-5F37-32A4-00EF-BE70217A82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EA97E2-AAD7-6CBC-EA76-C8C9EFE2B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7263F6-9ADE-E0D8-F10C-DADE148D9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CC53D-3CEA-4B2B-8372-E7F0057A84B2}" type="datetimeFigureOut">
              <a:rPr lang="en-US" smtClean="0"/>
              <a:t>24/09/2026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E53BE4-76A1-B485-93F5-E1702CAD6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E8030-C832-E72C-AC69-4C7D143FD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E1F9C-187C-4454-82A2-EBC75706A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594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22F83-C991-4221-235D-08E271648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0B9815-6527-1411-6050-36F7EEA77F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76FFEB-B175-E17E-911B-2776E8E15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CC53D-3CEA-4B2B-8372-E7F0057A84B2}" type="datetimeFigureOut">
              <a:rPr lang="en-US" smtClean="0"/>
              <a:t>24/09/2026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1E84C9-4092-D3F2-F863-7B9BF8D2E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6B51B3-1A5D-CD9B-72AA-5BC2E4776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E1F9C-187C-4454-82A2-EBC75706A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395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674A5-D19B-6700-8AAB-D35D395F1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DFDF6C-3675-44A9-6F96-F0C756A324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032C77-7BD8-7F40-2388-3C11D198C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CC53D-3CEA-4B2B-8372-E7F0057A84B2}" type="datetimeFigureOut">
              <a:rPr lang="en-US" smtClean="0"/>
              <a:t>24/09/2026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AEDE13-051D-282F-82B6-5DBF07CD0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C11E65-511B-3680-05D6-E28659F6C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E1F9C-187C-4454-82A2-EBC75706A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184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25EAC-58C1-A1D1-5AA7-78DBC71B1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11552-6DC2-A39A-D3E2-E60D25E8BF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940365-44C0-1D19-094C-9A50C1C420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CAE251-68B5-7149-1CA1-2C6D33C85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CC53D-3CEA-4B2B-8372-E7F0057A84B2}" type="datetimeFigureOut">
              <a:rPr lang="en-US" smtClean="0"/>
              <a:t>24/09/2026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571D6B-0AB2-5C74-323F-73C6D2080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3FB69C-C608-7BD1-B694-78F1C2311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E1F9C-187C-4454-82A2-EBC75706A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640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9C137-B115-5CDF-20D1-7417C1778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F6F379-0AD3-1753-9F2A-9476C52835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8CA2A6-186A-CC0B-A53F-5E474A9EB7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F6FA1C-2B2F-7FE9-2C72-B1B44B347E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BCA44F-1796-9D90-1520-F7C12B6CE5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D80A99-F402-A6BF-32D3-0A06A8721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CC53D-3CEA-4B2B-8372-E7F0057A84B2}" type="datetimeFigureOut">
              <a:rPr lang="en-US" smtClean="0"/>
              <a:t>24/09/2026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BDE475-214B-4E1E-AA4E-FEE6CB7F0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E4C661-5774-AB48-2A71-C342D1523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E1F9C-187C-4454-82A2-EBC75706A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493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21F55-3C34-F59E-9C54-41F7696A0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EEF12F-A9CE-50DE-700A-0E418F0E8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CC53D-3CEA-4B2B-8372-E7F0057A84B2}" type="datetimeFigureOut">
              <a:rPr lang="en-US" smtClean="0"/>
              <a:t>24/09/2026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97496E-6DB1-56C0-E9C1-EE8797C0D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181DF6-7D6F-AF6D-63EB-D2D6017C9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E1F9C-187C-4454-82A2-EBC75706A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929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115F55-234E-09C4-1A9A-B8D0ECC02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CC53D-3CEA-4B2B-8372-E7F0057A84B2}" type="datetimeFigureOut">
              <a:rPr lang="en-US" smtClean="0"/>
              <a:t>24/09/2026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9B42A8-A73E-488E-96AF-D80B5B2D6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5DB9F-9013-FFAF-80B3-16709BD50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E1F9C-187C-4454-82A2-EBC75706A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783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491AA-4146-0F29-338F-969D4D183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754291-5F01-3981-5199-1F563A1027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EFF4AF-27D2-5481-F38E-095F6EC284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F6886A-F7A8-FE3F-FBC8-EB11F14F6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CC53D-3CEA-4B2B-8372-E7F0057A84B2}" type="datetimeFigureOut">
              <a:rPr lang="en-US" smtClean="0"/>
              <a:t>24/09/2026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58BDA1-ECB8-AB1F-F51E-E3436B5F7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2FEFF3-302F-89D3-55BC-D7A619967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E1F9C-187C-4454-82A2-EBC75706A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568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C27D2-1AED-6B2C-D0AC-BCF2E6F58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E3A293-3134-D5C9-75D5-90D3EFA55F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2894C4-91D4-1849-96FA-243EF21EAB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44E925-40E7-2495-A812-A3C3164CD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CC53D-3CEA-4B2B-8372-E7F0057A84B2}" type="datetimeFigureOut">
              <a:rPr lang="en-US" smtClean="0"/>
              <a:t>24/09/2026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3E9457-2ABE-922B-DE60-198F5713A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161BA9-6407-04AB-0FAB-2033B6A77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E1F9C-187C-4454-82A2-EBC75706A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5620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5AF38-E72F-C2CC-5A93-F800217DB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D49276-7DD6-DE6A-7023-7D3FC001BC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976DF0-2A22-61C8-84B3-4EF2F040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CC53D-3CEA-4B2B-8372-E7F0057A84B2}" type="datetimeFigureOut">
              <a:rPr lang="en-US" smtClean="0"/>
              <a:t>24/09/2026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809CB0-674B-874F-85D5-19525D568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049A46-8640-DF56-10FC-8EE77234E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E1F9C-187C-4454-82A2-EBC75706A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675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56C126-7D49-C1C7-C389-968BAEE6D8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1888F7-F535-F922-8F58-046B283632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D60E86-C0E0-0707-3632-21D0494CA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CC53D-3CEA-4B2B-8372-E7F0057A84B2}" type="datetimeFigureOut">
              <a:rPr lang="en-US" smtClean="0"/>
              <a:t>24/09/2026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E958C4-0636-5C40-1E65-94475DFC2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F4E3E-7943-3903-9A91-1F3D9629F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E1F9C-187C-4454-82A2-EBC75706A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305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940E3D-5EED-828B-D784-9C2BD7103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F73E3C-0B86-E81B-DBDA-7044D7DE29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1F3BE9-A11E-B380-3377-DB37745446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1CC53D-3CEA-4B2B-8372-E7F0057A84B2}" type="datetimeFigureOut">
              <a:rPr lang="en-US" smtClean="0"/>
              <a:t>24/09/2026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BF54FF-8E9A-465D-868C-85C24A8E25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0BF956-26A7-6156-F7F7-F55411EC36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5E1F9C-187C-4454-82A2-EBC75706A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489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19A4CEC4-E0F6-CBC9-E9D0-B15225D0B2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Shape 1">
            <a:extLst>
              <a:ext uri="{FF2B5EF4-FFF2-40B4-BE49-F238E27FC236}">
                <a16:creationId xmlns:a16="http://schemas.microsoft.com/office/drawing/2014/main" id="{87E019B0-12E5-73F0-BECF-E78A27079953}"/>
              </a:ext>
            </a:extLst>
          </p:cNvPr>
          <p:cNvSpPr/>
          <p:nvPr/>
        </p:nvSpPr>
        <p:spPr>
          <a:xfrm>
            <a:off x="11353800" y="991092"/>
            <a:ext cx="3291840" cy="3291840"/>
          </a:xfrm>
          <a:prstGeom prst="ellipse">
            <a:avLst/>
          </a:prstGeom>
          <a:solidFill>
            <a:srgbClr val="D4A373">
              <a:alpha val="30000"/>
            </a:srgbClr>
          </a:solidFill>
          <a:ln/>
        </p:spPr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331752A9-2648-B1AD-0336-AB0B03CAC801}"/>
              </a:ext>
            </a:extLst>
          </p:cNvPr>
          <p:cNvSpPr txBox="1"/>
          <p:nvPr/>
        </p:nvSpPr>
        <p:spPr>
          <a:xfrm>
            <a:off x="2316480" y="2179812"/>
            <a:ext cx="80113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29716F"/>
                </a:solidFill>
                <a:latin typeface="Segoe UI Semibold" panose="020B0702040204020203" pitchFamily="34" charset="0"/>
                <a:ea typeface="Cambria" pitchFamily="34" charset="-122"/>
                <a:cs typeface="Segoe UI Semibold" panose="020B0702040204020203" pitchFamily="34" charset="0"/>
              </a:rPr>
              <a:t>HR ATTRITION ANALYSIS</a:t>
            </a:r>
            <a:endParaRPr lang="en-US" sz="4200" dirty="0">
              <a:solidFill>
                <a:srgbClr val="29716F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03DD78AD-2646-CFC8-AE3D-4CA42D1E0A2C}"/>
              </a:ext>
            </a:extLst>
          </p:cNvPr>
          <p:cNvSpPr txBox="1"/>
          <p:nvPr/>
        </p:nvSpPr>
        <p:spPr>
          <a:xfrm>
            <a:off x="2316480" y="3094212"/>
            <a:ext cx="673126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D4B483"/>
                </a:solidFill>
                <a:latin typeface="Segoe UI Semibold" panose="020B0702040204020203" pitchFamily="34" charset="0"/>
                <a:ea typeface="Calibri" pitchFamily="34" charset="-122"/>
                <a:cs typeface="Segoe UI Semibold" panose="020B0702040204020203" pitchFamily="34" charset="0"/>
              </a:rPr>
              <a:t>Insights and Recommendations </a:t>
            </a:r>
            <a:r>
              <a:rPr lang="en-US" sz="1600" dirty="0">
                <a:solidFill>
                  <a:srgbClr val="D4B483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to support business decision-making</a:t>
            </a:r>
            <a:r>
              <a:rPr lang="en-US" sz="1600" dirty="0">
                <a:solidFill>
                  <a:srgbClr val="D4B483"/>
                </a:solidFill>
                <a:latin typeface="Segoe UI Semibold" panose="020B0702040204020203" pitchFamily="34" charset="0"/>
                <a:ea typeface="Calibri" pitchFamily="34" charset="-122"/>
                <a:cs typeface="Segoe UI Semibold" panose="020B0702040204020203" pitchFamily="34" charset="0"/>
              </a:rPr>
              <a:t> </a:t>
            </a:r>
            <a:endParaRPr lang="en-US" sz="1600" dirty="0">
              <a:solidFill>
                <a:srgbClr val="D4B483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7A628F0B-B8E7-B996-ECCB-9859E90E3866}"/>
              </a:ext>
            </a:extLst>
          </p:cNvPr>
          <p:cNvSpPr txBox="1"/>
          <p:nvPr/>
        </p:nvSpPr>
        <p:spPr>
          <a:xfrm>
            <a:off x="822960" y="5394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 Mohamed Abdo</a:t>
            </a:r>
            <a:endParaRPr lang="en-US" sz="1400" dirty="0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0E08EB6F-1B11-5A00-5621-F9EF7D97A607}"/>
              </a:ext>
            </a:extLst>
          </p:cNvPr>
          <p:cNvSpPr txBox="1"/>
          <p:nvPr/>
        </p:nvSpPr>
        <p:spPr>
          <a:xfrm>
            <a:off x="822960" y="5760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Date:  24/9/2026</a:t>
            </a:r>
            <a:endParaRPr lang="en-US" sz="1400" dirty="0"/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9808C179-A1C1-A174-7F73-8BA1CF1A57C2}"/>
              </a:ext>
            </a:extLst>
          </p:cNvPr>
          <p:cNvSpPr txBox="1"/>
          <p:nvPr/>
        </p:nvSpPr>
        <p:spPr>
          <a:xfrm>
            <a:off x="822960" y="6126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 </a:t>
            </a: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HR Employee Attrition Analysis</a:t>
            </a:r>
            <a:endParaRPr lang="en-US" sz="1400" dirty="0"/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EE2E6182-2246-2D2B-363E-B6FEE6D54B34}"/>
              </a:ext>
            </a:extLst>
          </p:cNvPr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23" name="Shape 0">
            <a:extLst>
              <a:ext uri="{FF2B5EF4-FFF2-40B4-BE49-F238E27FC236}">
                <a16:creationId xmlns:a16="http://schemas.microsoft.com/office/drawing/2014/main" id="{86F9ED21-55C0-D6CC-D982-E09301A187AE}"/>
              </a:ext>
            </a:extLst>
          </p:cNvPr>
          <p:cNvSpPr/>
          <p:nvPr/>
        </p:nvSpPr>
        <p:spPr>
          <a:xfrm>
            <a:off x="4297680" y="-2925342"/>
            <a:ext cx="3840480" cy="3840480"/>
          </a:xfrm>
          <a:prstGeom prst="ellipse">
            <a:avLst/>
          </a:prstGeom>
          <a:solidFill>
            <a:srgbClr val="1F6F78">
              <a:alpha val="60000"/>
            </a:srgbClr>
          </a:solidFill>
          <a:ln/>
        </p:spPr>
      </p:sp>
    </p:spTree>
    <p:extLst>
      <p:ext uri="{BB962C8B-B14F-4D97-AF65-F5344CB8AC3E}">
        <p14:creationId xmlns:p14="http://schemas.microsoft.com/office/powerpoint/2010/main" val="14492117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70A64A-4506-12CB-1FE1-A805ED1544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2512" y="0"/>
            <a:ext cx="12234512" cy="6858000"/>
          </a:xfrm>
          <a:prstGeom prst="rect">
            <a:avLst/>
          </a:prstGeom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637AD91F-0E6B-D3EB-4888-9EEC0969E1CA}"/>
              </a:ext>
            </a:extLst>
          </p:cNvPr>
          <p:cNvSpPr txBox="1"/>
          <p:nvPr/>
        </p:nvSpPr>
        <p:spPr>
          <a:xfrm>
            <a:off x="1684421" y="342900"/>
            <a:ext cx="654517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424A"/>
                </a:solidFill>
                <a:latin typeface="Segoe UI Semibold" panose="020B0702040204020203" pitchFamily="34" charset="0"/>
                <a:ea typeface="Cambria" pitchFamily="34" charset="-122"/>
                <a:cs typeface="Segoe UI Semibold" panose="020B0702040204020203" pitchFamily="34" charset="0"/>
              </a:rPr>
              <a:t>Business Context and Objective</a:t>
            </a:r>
            <a:endParaRPr lang="en-US" sz="32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4DBACEDB-4BFA-59B8-7A27-E3EF2F5DA0D5}"/>
              </a:ext>
            </a:extLst>
          </p:cNvPr>
          <p:cNvSpPr txBox="1"/>
          <p:nvPr/>
        </p:nvSpPr>
        <p:spPr>
          <a:xfrm>
            <a:off x="1874520" y="1244948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1C2B2E"/>
                </a:solidFill>
                <a:latin typeface="Segoe UI Semilight" panose="020B0402040204020203" pitchFamily="34" charset="0"/>
                <a:ea typeface="Calibri" pitchFamily="34" charset="-122"/>
                <a:cs typeface="Segoe UI Semilight" panose="020B0402040204020203" pitchFamily="34" charset="0"/>
              </a:rPr>
              <a:t>Employee attrition currently stands at </a:t>
            </a:r>
            <a:r>
              <a:rPr lang="en-US" b="1" dirty="0">
                <a:solidFill>
                  <a:srgbClr val="C0392B"/>
                </a:solidFill>
                <a:latin typeface="Segoe UI Semilight" panose="020B0402040204020203" pitchFamily="34" charset="0"/>
                <a:ea typeface="Calibri" pitchFamily="34" charset="-122"/>
                <a:cs typeface="Segoe UI Semilight" panose="020B0402040204020203" pitchFamily="34" charset="0"/>
              </a:rPr>
              <a:t>16.1%</a:t>
            </a:r>
            <a:r>
              <a:rPr lang="en-US" b="1" dirty="0">
                <a:solidFill>
                  <a:srgbClr val="1C2B2E"/>
                </a:solidFill>
                <a:latin typeface="Segoe UI Semilight" panose="020B0402040204020203" pitchFamily="34" charset="0"/>
                <a:ea typeface="Calibri" pitchFamily="34" charset="-122"/>
                <a:cs typeface="Segoe UI Semilight" panose="020B0402040204020203" pitchFamily="34" charset="0"/>
              </a:rPr>
              <a:t> </a:t>
            </a:r>
            <a:r>
              <a:rPr lang="en-US" dirty="0">
                <a:solidFill>
                  <a:srgbClr val="1C2B2E"/>
                </a:solidFill>
                <a:latin typeface="Segoe UI Semilight" panose="020B0402040204020203" pitchFamily="34" charset="0"/>
                <a:ea typeface="Calibri" pitchFamily="34" charset="-122"/>
                <a:cs typeface="Segoe UI Semilight" panose="020B0402040204020203" pitchFamily="34" charset="0"/>
              </a:rPr>
              <a:t>with 237 out of 1,470 employees having left the company.</a:t>
            </a:r>
            <a:endParaRPr lang="en-US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6BDEB0EF-72EC-34ED-8E37-4161FBFD2FB0}"/>
              </a:ext>
            </a:extLst>
          </p:cNvPr>
          <p:cNvSpPr txBox="1"/>
          <p:nvPr/>
        </p:nvSpPr>
        <p:spPr>
          <a:xfrm>
            <a:off x="1874520" y="2116836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1C2B2E"/>
                </a:solidFill>
                <a:latin typeface="Segoe UI Semilight" panose="020B0402040204020203" pitchFamily="34" charset="0"/>
                <a:ea typeface="Calibri" pitchFamily="34" charset="-122"/>
                <a:cs typeface="Segoe UI Semilight" panose="020B0402040204020203" pitchFamily="34" charset="0"/>
              </a:rPr>
              <a:t>This analysis identifies the key drivers behind attrition, detects meaningful outliers and segments, and translates the findings into actionable retention recommendations.</a:t>
            </a:r>
            <a:endParaRPr lang="en-US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13" name="Shape 3">
            <a:extLst>
              <a:ext uri="{FF2B5EF4-FFF2-40B4-BE49-F238E27FC236}">
                <a16:creationId xmlns:a16="http://schemas.microsoft.com/office/drawing/2014/main" id="{FF791206-1395-2D85-8A03-093E3DEB6491}"/>
              </a:ext>
            </a:extLst>
          </p:cNvPr>
          <p:cNvSpPr/>
          <p:nvPr/>
        </p:nvSpPr>
        <p:spPr>
          <a:xfrm>
            <a:off x="822960" y="3337560"/>
            <a:ext cx="2334126" cy="1417320"/>
          </a:xfrm>
          <a:prstGeom prst="roundRect">
            <a:avLst>
              <a:gd name="adj" fmla="val 5161"/>
            </a:avLst>
          </a:prstGeom>
          <a:solidFill>
            <a:srgbClr val="E7F1F1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F60B24E2-440E-3303-F076-AC0E1A82EED0}"/>
              </a:ext>
            </a:extLst>
          </p:cNvPr>
          <p:cNvSpPr txBox="1"/>
          <p:nvPr/>
        </p:nvSpPr>
        <p:spPr>
          <a:xfrm>
            <a:off x="1005840" y="3502152"/>
            <a:ext cx="15769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424A"/>
                </a:solidFill>
                <a:latin typeface="Segoe UI Semibold" panose="020B0702040204020203" pitchFamily="34" charset="0"/>
                <a:ea typeface="Cambria" pitchFamily="34" charset="-122"/>
                <a:cs typeface="Segoe UI Semibold" panose="020B0702040204020203" pitchFamily="34" charset="0"/>
              </a:rPr>
              <a:t>1,470</a:t>
            </a:r>
            <a:endParaRPr lang="en-US" sz="28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C7AFBA08-8076-8746-1B3B-C4E63686126A}"/>
              </a:ext>
            </a:extLst>
          </p:cNvPr>
          <p:cNvSpPr txBox="1"/>
          <p:nvPr/>
        </p:nvSpPr>
        <p:spPr>
          <a:xfrm>
            <a:off x="1005840" y="42062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9716F"/>
                </a:solidFill>
                <a:latin typeface="Segoe UI Semilight" panose="020B0402040204020203" pitchFamily="34" charset="0"/>
                <a:ea typeface="Calibri" pitchFamily="34" charset="-122"/>
                <a:cs typeface="Segoe UI Semilight" panose="020B0402040204020203" pitchFamily="34" charset="0"/>
              </a:rPr>
              <a:t>Total Employees</a:t>
            </a:r>
            <a:endParaRPr lang="en-US" sz="1300" dirty="0">
              <a:solidFill>
                <a:srgbClr val="29716F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19" name="Shape 6">
            <a:extLst>
              <a:ext uri="{FF2B5EF4-FFF2-40B4-BE49-F238E27FC236}">
                <a16:creationId xmlns:a16="http://schemas.microsoft.com/office/drawing/2014/main" id="{71F29454-DFC3-A7E5-FDD3-BB77236B8F02}"/>
              </a:ext>
            </a:extLst>
          </p:cNvPr>
          <p:cNvSpPr/>
          <p:nvPr/>
        </p:nvSpPr>
        <p:spPr>
          <a:xfrm>
            <a:off x="3840480" y="3337560"/>
            <a:ext cx="2624488" cy="1417320"/>
          </a:xfrm>
          <a:prstGeom prst="roundRect">
            <a:avLst>
              <a:gd name="adj" fmla="val 5161"/>
            </a:avLst>
          </a:prstGeom>
          <a:solidFill>
            <a:srgbClr val="E7F1F1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3F4E8FC5-7B2F-0467-A8F7-1BE8B98A1A53}"/>
              </a:ext>
            </a:extLst>
          </p:cNvPr>
          <p:cNvSpPr txBox="1"/>
          <p:nvPr/>
        </p:nvSpPr>
        <p:spPr>
          <a:xfrm>
            <a:off x="4023360" y="3502152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424A"/>
                </a:solidFill>
                <a:latin typeface="Segoe UI Semibold" panose="020B0702040204020203" pitchFamily="34" charset="0"/>
                <a:ea typeface="Cambria" pitchFamily="34" charset="-122"/>
                <a:cs typeface="Segoe UI Semibold" panose="020B0702040204020203" pitchFamily="34" charset="0"/>
              </a:rPr>
              <a:t>16.1%</a:t>
            </a:r>
            <a:endParaRPr lang="en-US" sz="28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B434C66D-2183-31AA-BC0C-9D458D054775}"/>
              </a:ext>
            </a:extLst>
          </p:cNvPr>
          <p:cNvSpPr txBox="1"/>
          <p:nvPr/>
        </p:nvSpPr>
        <p:spPr>
          <a:xfrm>
            <a:off x="4023360" y="42062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9716F"/>
                </a:solidFill>
                <a:latin typeface="Segoe UI Semilight" panose="020B0402040204020203" pitchFamily="34" charset="0"/>
                <a:ea typeface="Calibri" pitchFamily="34" charset="-122"/>
                <a:cs typeface="Segoe UI Semilight" panose="020B0402040204020203" pitchFamily="34" charset="0"/>
              </a:rPr>
              <a:t>Attrition Rate</a:t>
            </a:r>
            <a:endParaRPr lang="en-US" sz="1300" dirty="0">
              <a:solidFill>
                <a:srgbClr val="29716F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25" name="Shape 9">
            <a:extLst>
              <a:ext uri="{FF2B5EF4-FFF2-40B4-BE49-F238E27FC236}">
                <a16:creationId xmlns:a16="http://schemas.microsoft.com/office/drawing/2014/main" id="{13ABB9F5-CCC9-AE6D-F835-8AD77EE7CDA4}"/>
              </a:ext>
            </a:extLst>
          </p:cNvPr>
          <p:cNvSpPr/>
          <p:nvPr/>
        </p:nvSpPr>
        <p:spPr>
          <a:xfrm>
            <a:off x="822960" y="4983480"/>
            <a:ext cx="2334126" cy="1417320"/>
          </a:xfrm>
          <a:prstGeom prst="roundRect">
            <a:avLst>
              <a:gd name="adj" fmla="val 5161"/>
            </a:avLst>
          </a:prstGeom>
          <a:solidFill>
            <a:srgbClr val="E7F1F1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1B131CD6-33A2-7E9E-C867-69251CF8C7C1}"/>
              </a:ext>
            </a:extLst>
          </p:cNvPr>
          <p:cNvSpPr txBox="1"/>
          <p:nvPr/>
        </p:nvSpPr>
        <p:spPr>
          <a:xfrm>
            <a:off x="1005840" y="5148072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424A"/>
                </a:solidFill>
                <a:latin typeface="Segoe UI Semibold" panose="020B0702040204020203" pitchFamily="34" charset="0"/>
                <a:ea typeface="Cambria" pitchFamily="34" charset="-122"/>
                <a:cs typeface="Segoe UI Semibold" panose="020B0702040204020203" pitchFamily="34" charset="0"/>
              </a:rPr>
              <a:t>$6,503</a:t>
            </a:r>
            <a:endParaRPr lang="en-US" sz="28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1522179E-9CE9-ABA1-C58D-EC4D1D40D17A}"/>
              </a:ext>
            </a:extLst>
          </p:cNvPr>
          <p:cNvSpPr txBox="1"/>
          <p:nvPr/>
        </p:nvSpPr>
        <p:spPr>
          <a:xfrm>
            <a:off x="1005840" y="585216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9716F"/>
                </a:solidFill>
                <a:latin typeface="Segoe UI Semilight" panose="020B0402040204020203" pitchFamily="34" charset="0"/>
                <a:ea typeface="Calibri" pitchFamily="34" charset="-122"/>
                <a:cs typeface="Segoe UI Semilight" panose="020B0402040204020203" pitchFamily="34" charset="0"/>
              </a:rPr>
              <a:t>AVG Monthly Income</a:t>
            </a:r>
            <a:endParaRPr lang="en-US" sz="1300" dirty="0">
              <a:solidFill>
                <a:srgbClr val="29716F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31" name="Shape 12">
            <a:extLst>
              <a:ext uri="{FF2B5EF4-FFF2-40B4-BE49-F238E27FC236}">
                <a16:creationId xmlns:a16="http://schemas.microsoft.com/office/drawing/2014/main" id="{D4BE5FFD-19A2-E9F6-8D17-A4C3D41D401D}"/>
              </a:ext>
            </a:extLst>
          </p:cNvPr>
          <p:cNvSpPr/>
          <p:nvPr/>
        </p:nvSpPr>
        <p:spPr>
          <a:xfrm>
            <a:off x="3840480" y="4983480"/>
            <a:ext cx="2624488" cy="1417320"/>
          </a:xfrm>
          <a:prstGeom prst="roundRect">
            <a:avLst>
              <a:gd name="adj" fmla="val 5161"/>
            </a:avLst>
          </a:prstGeom>
          <a:solidFill>
            <a:srgbClr val="E7F1F1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33" name="Text 13">
            <a:extLst>
              <a:ext uri="{FF2B5EF4-FFF2-40B4-BE49-F238E27FC236}">
                <a16:creationId xmlns:a16="http://schemas.microsoft.com/office/drawing/2014/main" id="{B8610EFF-294B-9C0F-D107-B589CBA6DD1B}"/>
              </a:ext>
            </a:extLst>
          </p:cNvPr>
          <p:cNvSpPr txBox="1"/>
          <p:nvPr/>
        </p:nvSpPr>
        <p:spPr>
          <a:xfrm>
            <a:off x="4023360" y="5148072"/>
            <a:ext cx="229722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16424A"/>
                </a:solidFill>
                <a:latin typeface="Segoe UI Semibold" panose="020B0702040204020203" pitchFamily="34" charset="0"/>
                <a:ea typeface="Cambria" pitchFamily="34" charset="-122"/>
                <a:cs typeface="Segoe UI Semibold" panose="020B0702040204020203" pitchFamily="34" charset="0"/>
              </a:rPr>
              <a:t>5.13 Years</a:t>
            </a:r>
            <a:endParaRPr lang="en-US" sz="28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5" name="Text 14">
            <a:extLst>
              <a:ext uri="{FF2B5EF4-FFF2-40B4-BE49-F238E27FC236}">
                <a16:creationId xmlns:a16="http://schemas.microsoft.com/office/drawing/2014/main" id="{65BF8C6A-9E0B-B910-451C-8C2CD222619F}"/>
              </a:ext>
            </a:extLst>
          </p:cNvPr>
          <p:cNvSpPr txBox="1"/>
          <p:nvPr/>
        </p:nvSpPr>
        <p:spPr>
          <a:xfrm>
            <a:off x="4029776" y="578815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29716F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AVG Tenure Left</a:t>
            </a:r>
          </a:p>
        </p:txBody>
      </p:sp>
      <p:sp>
        <p:nvSpPr>
          <p:cNvPr id="37" name="Shape 15">
            <a:extLst>
              <a:ext uri="{FF2B5EF4-FFF2-40B4-BE49-F238E27FC236}">
                <a16:creationId xmlns:a16="http://schemas.microsoft.com/office/drawing/2014/main" id="{2F6AB34E-9337-5526-8A7F-018ED1EF7C5B}"/>
              </a:ext>
            </a:extLst>
          </p:cNvPr>
          <p:cNvSpPr/>
          <p:nvPr/>
        </p:nvSpPr>
        <p:spPr>
          <a:xfrm>
            <a:off x="8366760" y="1371600"/>
            <a:ext cx="3200400" cy="3200400"/>
          </a:xfrm>
          <a:prstGeom prst="ellipse">
            <a:avLst/>
          </a:prstGeom>
          <a:solidFill>
            <a:srgbClr val="16424A"/>
          </a:solidFill>
          <a:ln/>
        </p:spPr>
      </p:sp>
      <p:sp>
        <p:nvSpPr>
          <p:cNvPr id="39" name="Shape 16">
            <a:extLst>
              <a:ext uri="{FF2B5EF4-FFF2-40B4-BE49-F238E27FC236}">
                <a16:creationId xmlns:a16="http://schemas.microsoft.com/office/drawing/2014/main" id="{8D862606-50D6-AD3C-CEFB-434DBA7D102C}"/>
              </a:ext>
            </a:extLst>
          </p:cNvPr>
          <p:cNvSpPr/>
          <p:nvPr/>
        </p:nvSpPr>
        <p:spPr>
          <a:xfrm>
            <a:off x="8732520" y="1737360"/>
            <a:ext cx="2468880" cy="24688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1" name="Text 17">
            <a:extLst>
              <a:ext uri="{FF2B5EF4-FFF2-40B4-BE49-F238E27FC236}">
                <a16:creationId xmlns:a16="http://schemas.microsoft.com/office/drawing/2014/main" id="{4FF0FE73-DCD8-4481-02A4-D83BE59F1417}"/>
              </a:ext>
            </a:extLst>
          </p:cNvPr>
          <p:cNvSpPr txBox="1"/>
          <p:nvPr/>
        </p:nvSpPr>
        <p:spPr>
          <a:xfrm>
            <a:off x="8366760" y="23317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64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16.1%</a:t>
            </a:r>
            <a:endParaRPr lang="en-US" sz="2600" dirty="0"/>
          </a:p>
        </p:txBody>
      </p:sp>
      <p:sp>
        <p:nvSpPr>
          <p:cNvPr id="43" name="Text 18">
            <a:extLst>
              <a:ext uri="{FF2B5EF4-FFF2-40B4-BE49-F238E27FC236}">
                <a16:creationId xmlns:a16="http://schemas.microsoft.com/office/drawing/2014/main" id="{84903DFF-F757-401B-CABC-76B550C6D29C}"/>
              </a:ext>
            </a:extLst>
          </p:cNvPr>
          <p:cNvSpPr txBox="1"/>
          <p:nvPr/>
        </p:nvSpPr>
        <p:spPr>
          <a:xfrm>
            <a:off x="8366760" y="2880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Rate</a:t>
            </a:r>
            <a:endParaRPr lang="en-US" sz="1200" dirty="0"/>
          </a:p>
        </p:txBody>
      </p:sp>
      <p:sp>
        <p:nvSpPr>
          <p:cNvPr id="45" name="Text 19">
            <a:extLst>
              <a:ext uri="{FF2B5EF4-FFF2-40B4-BE49-F238E27FC236}">
                <a16:creationId xmlns:a16="http://schemas.microsoft.com/office/drawing/2014/main" id="{1FFD3FBF-1931-4A14-3C8D-C561F96421D1}"/>
              </a:ext>
            </a:extLst>
          </p:cNvPr>
          <p:cNvSpPr txBox="1"/>
          <p:nvPr/>
        </p:nvSpPr>
        <p:spPr>
          <a:xfrm>
            <a:off x="8366760" y="48006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237 employees left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1,470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459307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83BAA9B-35DA-F97B-A48B-6869CC37C1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05740"/>
            <a:ext cx="12192000" cy="7063740"/>
          </a:xfrm>
          <a:prstGeom prst="rect">
            <a:avLst/>
          </a:prstGeom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1E2E10F1-8709-AA65-91AA-72BC5DFC63E6}"/>
              </a:ext>
            </a:extLst>
          </p:cNvPr>
          <p:cNvSpPr txBox="1"/>
          <p:nvPr/>
        </p:nvSpPr>
        <p:spPr>
          <a:xfrm>
            <a:off x="1737360" y="394636"/>
            <a:ext cx="323569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9716F"/>
                </a:solidFill>
                <a:latin typeface="Segoe UI Semibold" panose="020B0702040204020203" pitchFamily="34" charset="0"/>
                <a:ea typeface="Cambria" pitchFamily="34" charset="-122"/>
                <a:cs typeface="Segoe UI Semibold" panose="020B0702040204020203" pitchFamily="34" charset="0"/>
              </a:rPr>
              <a:t>Methodology</a:t>
            </a:r>
            <a:endParaRPr lang="en-US" sz="3200" dirty="0">
              <a:solidFill>
                <a:srgbClr val="29716F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9" name="Shape 1">
            <a:extLst>
              <a:ext uri="{FF2B5EF4-FFF2-40B4-BE49-F238E27FC236}">
                <a16:creationId xmlns:a16="http://schemas.microsoft.com/office/drawing/2014/main" id="{D9C28FA2-547E-EF78-A853-53F32C395501}"/>
              </a:ext>
            </a:extLst>
          </p:cNvPr>
          <p:cNvSpPr/>
          <p:nvPr/>
        </p:nvSpPr>
        <p:spPr>
          <a:xfrm>
            <a:off x="457200" y="1691640"/>
            <a:ext cx="822960" cy="822960"/>
          </a:xfrm>
          <a:prstGeom prst="ellipse">
            <a:avLst/>
          </a:prstGeom>
          <a:solidFill>
            <a:srgbClr val="16424A"/>
          </a:solidFill>
          <a:ln/>
        </p:spPr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E3F17023-83C9-9AB6-E6EB-0BD51080B0F6}"/>
              </a:ext>
            </a:extLst>
          </p:cNvPr>
          <p:cNvSpPr txBox="1"/>
          <p:nvPr/>
        </p:nvSpPr>
        <p:spPr>
          <a:xfrm>
            <a:off x="1737360" y="1554480"/>
            <a:ext cx="482386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latin typeface="Segoe UI Semibold" panose="020B0702040204020203" pitchFamily="34" charset="0"/>
                <a:ea typeface="Cambria" pitchFamily="34" charset="-122"/>
                <a:cs typeface="Segoe UI Semibold" panose="020B0702040204020203" pitchFamily="34" charset="0"/>
              </a:rPr>
              <a:t>Data Modeling</a:t>
            </a:r>
            <a:endParaRPr lang="en-US" sz="19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3674D58C-1842-6CDD-48CF-ADB851E2779B}"/>
              </a:ext>
            </a:extLst>
          </p:cNvPr>
          <p:cNvSpPr txBox="1"/>
          <p:nvPr/>
        </p:nvSpPr>
        <p:spPr>
          <a:xfrm>
            <a:off x="1508760" y="1993392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latin typeface="Segoe UI Semibold" panose="020B0702040204020203" pitchFamily="34" charset="0"/>
                <a:ea typeface="Calibri" pitchFamily="34" charset="-122"/>
                <a:cs typeface="Segoe UI Semibold" panose="020B0702040204020203" pitchFamily="34" charset="0"/>
              </a:rPr>
              <a:t>Built a star schema in Power BI, separating employee facts from Department, Job, Education, and Profile dimensions.</a:t>
            </a:r>
            <a:endParaRPr lang="en-US" sz="14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7" name="Shape 5">
            <a:extLst>
              <a:ext uri="{FF2B5EF4-FFF2-40B4-BE49-F238E27FC236}">
                <a16:creationId xmlns:a16="http://schemas.microsoft.com/office/drawing/2014/main" id="{192CDD76-563E-D1EC-612F-8D5E9C7C9482}"/>
              </a:ext>
            </a:extLst>
          </p:cNvPr>
          <p:cNvSpPr/>
          <p:nvPr/>
        </p:nvSpPr>
        <p:spPr>
          <a:xfrm>
            <a:off x="457200" y="3383280"/>
            <a:ext cx="822960" cy="822960"/>
          </a:xfrm>
          <a:prstGeom prst="ellipse">
            <a:avLst/>
          </a:prstGeom>
          <a:solidFill>
            <a:srgbClr val="16424A"/>
          </a:solidFill>
          <a:ln/>
        </p:spPr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CA07CFE4-AC32-B36F-DF87-FEEEAF7A1F96}"/>
              </a:ext>
            </a:extLst>
          </p:cNvPr>
          <p:cNvSpPr txBox="1"/>
          <p:nvPr/>
        </p:nvSpPr>
        <p:spPr>
          <a:xfrm>
            <a:off x="1737360" y="3223260"/>
            <a:ext cx="392550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latin typeface="Segoe UI Semibold" panose="020B0702040204020203" pitchFamily="34" charset="0"/>
                <a:ea typeface="Cambria" pitchFamily="34" charset="-122"/>
                <a:cs typeface="Segoe UI Semibold" panose="020B0702040204020203" pitchFamily="34" charset="0"/>
              </a:rPr>
              <a:t>DAX Measures</a:t>
            </a:r>
            <a:endParaRPr lang="en-US" sz="19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21693A5B-0701-640A-D368-9302D7424E79}"/>
              </a:ext>
            </a:extLst>
          </p:cNvPr>
          <p:cNvSpPr txBox="1"/>
          <p:nvPr/>
        </p:nvSpPr>
        <p:spPr>
          <a:xfrm>
            <a:off x="1508760" y="3685032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latin typeface="Segoe UI Semibold" panose="020B0702040204020203" pitchFamily="34" charset="0"/>
                <a:ea typeface="Calibri" pitchFamily="34" charset="-122"/>
                <a:cs typeface="Segoe UI Semibold" panose="020B0702040204020203" pitchFamily="34" charset="0"/>
              </a:rPr>
              <a:t>Developed DAX measures to calculate attrition rates , totals and satisfaction indices.</a:t>
            </a:r>
            <a:endParaRPr lang="en-US" sz="14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5" name="Shape 9">
            <a:extLst>
              <a:ext uri="{FF2B5EF4-FFF2-40B4-BE49-F238E27FC236}">
                <a16:creationId xmlns:a16="http://schemas.microsoft.com/office/drawing/2014/main" id="{3E1F0778-1CC7-76BE-8098-8EB29CECE53F}"/>
              </a:ext>
            </a:extLst>
          </p:cNvPr>
          <p:cNvSpPr/>
          <p:nvPr/>
        </p:nvSpPr>
        <p:spPr>
          <a:xfrm>
            <a:off x="457200" y="5074920"/>
            <a:ext cx="822960" cy="822960"/>
          </a:xfrm>
          <a:prstGeom prst="ellipse">
            <a:avLst/>
          </a:prstGeom>
          <a:solidFill>
            <a:srgbClr val="16424A"/>
          </a:solidFill>
          <a:ln/>
        </p:spPr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E9E36DF5-C0A4-A87A-A3C0-08957F9356EC}"/>
              </a:ext>
            </a:extLst>
          </p:cNvPr>
          <p:cNvSpPr txBox="1"/>
          <p:nvPr/>
        </p:nvSpPr>
        <p:spPr>
          <a:xfrm>
            <a:off x="1737360" y="4890596"/>
            <a:ext cx="578638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latin typeface="Segoe UI Semibold" panose="020B0702040204020203" pitchFamily="34" charset="0"/>
                <a:ea typeface="Cambria" pitchFamily="34" charset="-122"/>
                <a:cs typeface="Segoe UI Semibold" panose="020B0702040204020203" pitchFamily="34" charset="0"/>
              </a:rPr>
              <a:t>Outlier Detection</a:t>
            </a:r>
            <a:endParaRPr lang="en-US" sz="19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1" name="Text 12">
            <a:extLst>
              <a:ext uri="{FF2B5EF4-FFF2-40B4-BE49-F238E27FC236}">
                <a16:creationId xmlns:a16="http://schemas.microsoft.com/office/drawing/2014/main" id="{4066ABF8-F15D-92B8-8DC6-18F728D69DDC}"/>
              </a:ext>
            </a:extLst>
          </p:cNvPr>
          <p:cNvSpPr txBox="1"/>
          <p:nvPr/>
        </p:nvSpPr>
        <p:spPr>
          <a:xfrm>
            <a:off x="1508760" y="5376672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latin typeface="Segoe UI Semibold" panose="020B0702040204020203" pitchFamily="34" charset="0"/>
                <a:ea typeface="Calibri" pitchFamily="34" charset="-122"/>
                <a:cs typeface="Segoe UI Semibold" panose="020B0702040204020203" pitchFamily="34" charset="0"/>
              </a:rPr>
              <a:t>Applied the Interquartile Range (IQR) method on key numeric fields to identify statistically meaningful outliers.</a:t>
            </a:r>
            <a:endParaRPr lang="en-US" sz="14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3" name="Text 13">
            <a:extLst>
              <a:ext uri="{FF2B5EF4-FFF2-40B4-BE49-F238E27FC236}">
                <a16:creationId xmlns:a16="http://schemas.microsoft.com/office/drawing/2014/main" id="{1E7E84F9-CF41-EF22-C535-59D5425EF323}"/>
              </a:ext>
            </a:extLst>
          </p:cNvPr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>
              <a:solidFill>
                <a:srgbClr val="29716F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5" name="Text 2">
            <a:extLst>
              <a:ext uri="{FF2B5EF4-FFF2-40B4-BE49-F238E27FC236}">
                <a16:creationId xmlns:a16="http://schemas.microsoft.com/office/drawing/2014/main" id="{D7AC27AC-EE33-ECD2-D170-2F769FFBDBB8}"/>
              </a:ext>
            </a:extLst>
          </p:cNvPr>
          <p:cNvSpPr txBox="1"/>
          <p:nvPr/>
        </p:nvSpPr>
        <p:spPr>
          <a:xfrm>
            <a:off x="457200" y="1691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4B483"/>
                </a:solidFill>
                <a:latin typeface="Segoe UI Semibold" panose="020B0702040204020203" pitchFamily="34" charset="0"/>
                <a:ea typeface="Cambria" pitchFamily="34" charset="-122"/>
                <a:cs typeface="Segoe UI Semibold" panose="020B0702040204020203" pitchFamily="34" charset="0"/>
              </a:rPr>
              <a:t>1</a:t>
            </a:r>
            <a:endParaRPr lang="en-US" sz="2600" dirty="0">
              <a:solidFill>
                <a:srgbClr val="D4B483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7" name="Text 6">
            <a:extLst>
              <a:ext uri="{FF2B5EF4-FFF2-40B4-BE49-F238E27FC236}">
                <a16:creationId xmlns:a16="http://schemas.microsoft.com/office/drawing/2014/main" id="{1B2C845E-7025-4053-68FE-990CFCCECC0A}"/>
              </a:ext>
            </a:extLst>
          </p:cNvPr>
          <p:cNvSpPr txBox="1"/>
          <p:nvPr/>
        </p:nvSpPr>
        <p:spPr>
          <a:xfrm>
            <a:off x="457200" y="3383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4B483"/>
                </a:solidFill>
                <a:latin typeface="Segoe UI Semibold" panose="020B0702040204020203" pitchFamily="34" charset="0"/>
                <a:ea typeface="Cambria" pitchFamily="34" charset="-122"/>
                <a:cs typeface="Segoe UI Semibold" panose="020B0702040204020203" pitchFamily="34" charset="0"/>
              </a:rPr>
              <a:t>2</a:t>
            </a:r>
            <a:endParaRPr lang="en-US" sz="2600" dirty="0">
              <a:solidFill>
                <a:srgbClr val="D4B483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9" name="Text 10">
            <a:extLst>
              <a:ext uri="{FF2B5EF4-FFF2-40B4-BE49-F238E27FC236}">
                <a16:creationId xmlns:a16="http://schemas.microsoft.com/office/drawing/2014/main" id="{4CD25A68-08C3-6503-9809-466A427E23A3}"/>
              </a:ext>
            </a:extLst>
          </p:cNvPr>
          <p:cNvSpPr txBox="1"/>
          <p:nvPr/>
        </p:nvSpPr>
        <p:spPr>
          <a:xfrm>
            <a:off x="457200" y="5074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4B483"/>
                </a:solidFill>
                <a:latin typeface="Segoe UI Semibold" panose="020B0702040204020203" pitchFamily="34" charset="0"/>
                <a:ea typeface="Cambria" pitchFamily="34" charset="-122"/>
                <a:cs typeface="Segoe UI Semibold" panose="020B0702040204020203" pitchFamily="34" charset="0"/>
              </a:rPr>
              <a:t>3</a:t>
            </a:r>
            <a:endParaRPr lang="en-US" sz="2600" dirty="0">
              <a:solidFill>
                <a:srgbClr val="D4B483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873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717EEA8-AB45-2950-AE90-1069F465E2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2" cy="6858000"/>
          </a:xfrm>
          <a:prstGeom prst="rect">
            <a:avLst/>
          </a:prstGeom>
        </p:spPr>
      </p:pic>
      <p:sp>
        <p:nvSpPr>
          <p:cNvPr id="51" name="Text 0">
            <a:extLst>
              <a:ext uri="{FF2B5EF4-FFF2-40B4-BE49-F238E27FC236}">
                <a16:creationId xmlns:a16="http://schemas.microsoft.com/office/drawing/2014/main" id="{BA91896C-6B2B-9A11-6B8B-37ABAFD9F73A}"/>
              </a:ext>
            </a:extLst>
          </p:cNvPr>
          <p:cNvSpPr txBox="1"/>
          <p:nvPr/>
        </p:nvSpPr>
        <p:spPr>
          <a:xfrm>
            <a:off x="1740569" y="562596"/>
            <a:ext cx="5157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424A"/>
                </a:solidFill>
                <a:latin typeface="Segoe UI Semibold" panose="020B0702040204020203" pitchFamily="34" charset="0"/>
                <a:ea typeface="Cambria" pitchFamily="34" charset="-122"/>
                <a:cs typeface="Segoe UI Semibold" panose="020B0702040204020203" pitchFamily="34" charset="0"/>
              </a:rPr>
              <a:t>Key Drivers of Attrition</a:t>
            </a:r>
            <a:endParaRPr lang="en-US" sz="30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55" name="Shape 2">
            <a:extLst>
              <a:ext uri="{FF2B5EF4-FFF2-40B4-BE49-F238E27FC236}">
                <a16:creationId xmlns:a16="http://schemas.microsoft.com/office/drawing/2014/main" id="{EC980BA5-37E6-0DBA-1266-F875AE89D9AB}"/>
              </a:ext>
            </a:extLst>
          </p:cNvPr>
          <p:cNvSpPr/>
          <p:nvPr/>
        </p:nvSpPr>
        <p:spPr>
          <a:xfrm>
            <a:off x="762001" y="1631964"/>
            <a:ext cx="320040" cy="320040"/>
          </a:xfrm>
          <a:prstGeom prst="ellipse">
            <a:avLst/>
          </a:prstGeom>
          <a:solidFill>
            <a:srgbClr val="D4A373"/>
          </a:solidFill>
          <a:ln/>
        </p:spPr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CC976674-C6B7-DEE8-4A9F-1CD2BADB73CC}"/>
              </a:ext>
            </a:extLst>
          </p:cNvPr>
          <p:cNvSpPr txBox="1"/>
          <p:nvPr/>
        </p:nvSpPr>
        <p:spPr>
          <a:xfrm>
            <a:off x="762001" y="163196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9" name="Text 4">
            <a:extLst>
              <a:ext uri="{FF2B5EF4-FFF2-40B4-BE49-F238E27FC236}">
                <a16:creationId xmlns:a16="http://schemas.microsoft.com/office/drawing/2014/main" id="{038DCE5D-B9D2-AAAE-E1F1-5E91D003A763}"/>
              </a:ext>
            </a:extLst>
          </p:cNvPr>
          <p:cNvSpPr txBox="1"/>
          <p:nvPr/>
        </p:nvSpPr>
        <p:spPr>
          <a:xfrm>
            <a:off x="1219201" y="15771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Segoe UI Semibold" panose="020B0702040204020203" pitchFamily="34" charset="0"/>
                <a:ea typeface="Calibri" pitchFamily="34" charset="-122"/>
                <a:cs typeface="Segoe UI Semibold" panose="020B0702040204020203" pitchFamily="34" charset="0"/>
              </a:rPr>
              <a:t>Overtime</a:t>
            </a:r>
            <a:endParaRPr lang="en-US" sz="16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61" name="Text 5">
            <a:extLst>
              <a:ext uri="{FF2B5EF4-FFF2-40B4-BE49-F238E27FC236}">
                <a16:creationId xmlns:a16="http://schemas.microsoft.com/office/drawing/2014/main" id="{AE7051A3-8B42-5BD9-7475-2249283F3BD8}"/>
              </a:ext>
            </a:extLst>
          </p:cNvPr>
          <p:cNvSpPr txBox="1"/>
          <p:nvPr/>
        </p:nvSpPr>
        <p:spPr>
          <a:xfrm>
            <a:off x="1219200" y="1887996"/>
            <a:ext cx="57911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latin typeface="Segoe UI Semibold" panose="020B0702040204020203" pitchFamily="34" charset="0"/>
                <a:ea typeface="Calibri" pitchFamily="34" charset="-122"/>
                <a:cs typeface="Segoe UI Semibold" panose="020B0702040204020203" pitchFamily="34" charset="0"/>
              </a:rPr>
              <a:t>Employees working overtime leave at 30.5% nearly 3x the rate of those who don't (10.4%).</a:t>
            </a:r>
            <a:endParaRPr lang="en-US" sz="14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63" name="Shape 6">
            <a:extLst>
              <a:ext uri="{FF2B5EF4-FFF2-40B4-BE49-F238E27FC236}">
                <a16:creationId xmlns:a16="http://schemas.microsoft.com/office/drawing/2014/main" id="{2A36367D-9DF9-8078-4CA4-0AC36CFC17E2}"/>
              </a:ext>
            </a:extLst>
          </p:cNvPr>
          <p:cNvSpPr/>
          <p:nvPr/>
        </p:nvSpPr>
        <p:spPr>
          <a:xfrm>
            <a:off x="762001" y="2528076"/>
            <a:ext cx="320040" cy="320040"/>
          </a:xfrm>
          <a:prstGeom prst="ellipse">
            <a:avLst/>
          </a:prstGeom>
          <a:solidFill>
            <a:srgbClr val="D4A373"/>
          </a:solidFill>
          <a:ln/>
        </p:spPr>
      </p:sp>
      <p:sp>
        <p:nvSpPr>
          <p:cNvPr id="65" name="Text 7">
            <a:extLst>
              <a:ext uri="{FF2B5EF4-FFF2-40B4-BE49-F238E27FC236}">
                <a16:creationId xmlns:a16="http://schemas.microsoft.com/office/drawing/2014/main" id="{BC1024E2-21E6-9370-B785-89573222BD30}"/>
              </a:ext>
            </a:extLst>
          </p:cNvPr>
          <p:cNvSpPr txBox="1"/>
          <p:nvPr/>
        </p:nvSpPr>
        <p:spPr>
          <a:xfrm>
            <a:off x="762001" y="252807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67" name="Text 8">
            <a:extLst>
              <a:ext uri="{FF2B5EF4-FFF2-40B4-BE49-F238E27FC236}">
                <a16:creationId xmlns:a16="http://schemas.microsoft.com/office/drawing/2014/main" id="{306FE0AC-3BED-3571-DC75-0A9EACF2B00A}"/>
              </a:ext>
            </a:extLst>
          </p:cNvPr>
          <p:cNvSpPr txBox="1"/>
          <p:nvPr/>
        </p:nvSpPr>
        <p:spPr>
          <a:xfrm>
            <a:off x="1219201" y="247321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Segoe UI Semibold" panose="020B0702040204020203" pitchFamily="34" charset="0"/>
                <a:ea typeface="Calibri" pitchFamily="34" charset="-122"/>
                <a:cs typeface="Segoe UI Semibold" panose="020B0702040204020203" pitchFamily="34" charset="0"/>
              </a:rPr>
              <a:t>Job Involvement</a:t>
            </a:r>
            <a:endParaRPr lang="en-US" sz="16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69" name="Text 9">
            <a:extLst>
              <a:ext uri="{FF2B5EF4-FFF2-40B4-BE49-F238E27FC236}">
                <a16:creationId xmlns:a16="http://schemas.microsoft.com/office/drawing/2014/main" id="{B1B6860E-D35C-BE29-1578-F87EAF1C3166}"/>
              </a:ext>
            </a:extLst>
          </p:cNvPr>
          <p:cNvSpPr txBox="1"/>
          <p:nvPr/>
        </p:nvSpPr>
        <p:spPr>
          <a:xfrm>
            <a:off x="1219200" y="2784108"/>
            <a:ext cx="532597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latin typeface="Segoe UI Semibold" panose="020B0702040204020203" pitchFamily="34" charset="0"/>
                <a:ea typeface="Calibri" pitchFamily="34" charset="-122"/>
                <a:cs typeface="Segoe UI Semibold" panose="020B0702040204020203" pitchFamily="34" charset="0"/>
              </a:rPr>
              <a:t>Attrition drops steadily from 33.7% (Low) to 9.0% (Very High).</a:t>
            </a:r>
            <a:endParaRPr lang="en-US" sz="14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71" name="Shape 10">
            <a:extLst>
              <a:ext uri="{FF2B5EF4-FFF2-40B4-BE49-F238E27FC236}">
                <a16:creationId xmlns:a16="http://schemas.microsoft.com/office/drawing/2014/main" id="{E28FE459-B404-3FA0-DD1E-665BD87B19C5}"/>
              </a:ext>
            </a:extLst>
          </p:cNvPr>
          <p:cNvSpPr/>
          <p:nvPr/>
        </p:nvSpPr>
        <p:spPr>
          <a:xfrm>
            <a:off x="762001" y="3424188"/>
            <a:ext cx="320040" cy="320040"/>
          </a:xfrm>
          <a:prstGeom prst="ellipse">
            <a:avLst/>
          </a:prstGeom>
          <a:solidFill>
            <a:srgbClr val="D4A373"/>
          </a:solidFill>
          <a:ln/>
        </p:spPr>
      </p:sp>
      <p:sp>
        <p:nvSpPr>
          <p:cNvPr id="73" name="Text 11">
            <a:extLst>
              <a:ext uri="{FF2B5EF4-FFF2-40B4-BE49-F238E27FC236}">
                <a16:creationId xmlns:a16="http://schemas.microsoft.com/office/drawing/2014/main" id="{77287F9B-9B52-54B8-8D35-C60602CAD26E}"/>
              </a:ext>
            </a:extLst>
          </p:cNvPr>
          <p:cNvSpPr txBox="1"/>
          <p:nvPr/>
        </p:nvSpPr>
        <p:spPr>
          <a:xfrm>
            <a:off x="762001" y="34241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75" name="Text 12">
            <a:extLst>
              <a:ext uri="{FF2B5EF4-FFF2-40B4-BE49-F238E27FC236}">
                <a16:creationId xmlns:a16="http://schemas.microsoft.com/office/drawing/2014/main" id="{AB7C9ADD-3FF1-05F6-6059-DEC8D500BE4B}"/>
              </a:ext>
            </a:extLst>
          </p:cNvPr>
          <p:cNvSpPr txBox="1"/>
          <p:nvPr/>
        </p:nvSpPr>
        <p:spPr>
          <a:xfrm>
            <a:off x="1219201" y="336932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Segoe UI Semibold" panose="020B0702040204020203" pitchFamily="34" charset="0"/>
                <a:ea typeface="Calibri" pitchFamily="34" charset="-122"/>
                <a:cs typeface="Segoe UI Semibold" panose="020B0702040204020203" pitchFamily="34" charset="0"/>
              </a:rPr>
              <a:t>Stock Option Level</a:t>
            </a:r>
            <a:endParaRPr lang="en-US" sz="16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77" name="Text 13">
            <a:extLst>
              <a:ext uri="{FF2B5EF4-FFF2-40B4-BE49-F238E27FC236}">
                <a16:creationId xmlns:a16="http://schemas.microsoft.com/office/drawing/2014/main" id="{4748A76B-FB12-2AEF-ACCC-F74FB0AF4B12}"/>
              </a:ext>
            </a:extLst>
          </p:cNvPr>
          <p:cNvSpPr txBox="1"/>
          <p:nvPr/>
        </p:nvSpPr>
        <p:spPr>
          <a:xfrm>
            <a:off x="1219201" y="36802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latin typeface="Segoe UI Semibold" panose="020B0702040204020203" pitchFamily="34" charset="0"/>
                <a:ea typeface="Calibri" pitchFamily="34" charset="-122"/>
                <a:cs typeface="Segoe UI Semibold" panose="020B0702040204020203" pitchFamily="34" charset="0"/>
              </a:rPr>
              <a:t>No stock options → 24.4% attrition, vs. under 10% for those with options.</a:t>
            </a:r>
            <a:endParaRPr lang="en-US" sz="14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79" name="Shape 14">
            <a:extLst>
              <a:ext uri="{FF2B5EF4-FFF2-40B4-BE49-F238E27FC236}">
                <a16:creationId xmlns:a16="http://schemas.microsoft.com/office/drawing/2014/main" id="{EBB6B801-3CD4-1A20-5E0F-2DE309C585A0}"/>
              </a:ext>
            </a:extLst>
          </p:cNvPr>
          <p:cNvSpPr/>
          <p:nvPr/>
        </p:nvSpPr>
        <p:spPr>
          <a:xfrm>
            <a:off x="762001" y="4320300"/>
            <a:ext cx="320040" cy="320040"/>
          </a:xfrm>
          <a:prstGeom prst="ellipse">
            <a:avLst/>
          </a:prstGeom>
          <a:solidFill>
            <a:srgbClr val="D4A373"/>
          </a:solidFill>
          <a:ln/>
        </p:spPr>
      </p:sp>
      <p:sp>
        <p:nvSpPr>
          <p:cNvPr id="81" name="Text 15">
            <a:extLst>
              <a:ext uri="{FF2B5EF4-FFF2-40B4-BE49-F238E27FC236}">
                <a16:creationId xmlns:a16="http://schemas.microsoft.com/office/drawing/2014/main" id="{FAEB45F0-BAA5-C133-1A99-90B9AE9C573C}"/>
              </a:ext>
            </a:extLst>
          </p:cNvPr>
          <p:cNvSpPr txBox="1"/>
          <p:nvPr/>
        </p:nvSpPr>
        <p:spPr>
          <a:xfrm>
            <a:off x="762001" y="43203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83" name="Text 16">
            <a:extLst>
              <a:ext uri="{FF2B5EF4-FFF2-40B4-BE49-F238E27FC236}">
                <a16:creationId xmlns:a16="http://schemas.microsoft.com/office/drawing/2014/main" id="{24C1C626-1C2C-F39B-CBE8-90CB31BD1A57}"/>
              </a:ext>
            </a:extLst>
          </p:cNvPr>
          <p:cNvSpPr txBox="1"/>
          <p:nvPr/>
        </p:nvSpPr>
        <p:spPr>
          <a:xfrm>
            <a:off x="1219201" y="426543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Segoe UI Semibold" panose="020B0702040204020203" pitchFamily="34" charset="0"/>
                <a:ea typeface="Calibri" pitchFamily="34" charset="-122"/>
                <a:cs typeface="Segoe UI Semibold" panose="020B0702040204020203" pitchFamily="34" charset="0"/>
              </a:rPr>
              <a:t>Marital Status</a:t>
            </a:r>
            <a:endParaRPr lang="en-US" sz="16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85" name="Text 17">
            <a:extLst>
              <a:ext uri="{FF2B5EF4-FFF2-40B4-BE49-F238E27FC236}">
                <a16:creationId xmlns:a16="http://schemas.microsoft.com/office/drawing/2014/main" id="{5348F39A-F19D-3992-89CF-CA66D49FD77D}"/>
              </a:ext>
            </a:extLst>
          </p:cNvPr>
          <p:cNvSpPr txBox="1"/>
          <p:nvPr/>
        </p:nvSpPr>
        <p:spPr>
          <a:xfrm>
            <a:off x="1219201" y="4576332"/>
            <a:ext cx="578232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latin typeface="Segoe UI Semibold" panose="020B0702040204020203" pitchFamily="34" charset="0"/>
                <a:ea typeface="Calibri" pitchFamily="34" charset="-122"/>
                <a:cs typeface="Segoe UI Semibold" panose="020B0702040204020203" pitchFamily="34" charset="0"/>
              </a:rPr>
              <a:t>Single employees leave at 25.5% more than married employees (12.5%).</a:t>
            </a:r>
            <a:endParaRPr lang="en-US" sz="14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87" name="Shape 18">
            <a:extLst>
              <a:ext uri="{FF2B5EF4-FFF2-40B4-BE49-F238E27FC236}">
                <a16:creationId xmlns:a16="http://schemas.microsoft.com/office/drawing/2014/main" id="{1C853C72-5BE6-8DD3-CB17-EA7598CC26A7}"/>
              </a:ext>
            </a:extLst>
          </p:cNvPr>
          <p:cNvSpPr/>
          <p:nvPr/>
        </p:nvSpPr>
        <p:spPr>
          <a:xfrm>
            <a:off x="762001" y="5216412"/>
            <a:ext cx="320040" cy="320040"/>
          </a:xfrm>
          <a:prstGeom prst="ellipse">
            <a:avLst/>
          </a:prstGeom>
          <a:solidFill>
            <a:srgbClr val="D4A373"/>
          </a:solidFill>
          <a:ln/>
        </p:spPr>
      </p:sp>
      <p:sp>
        <p:nvSpPr>
          <p:cNvPr id="89" name="Text 19">
            <a:extLst>
              <a:ext uri="{FF2B5EF4-FFF2-40B4-BE49-F238E27FC236}">
                <a16:creationId xmlns:a16="http://schemas.microsoft.com/office/drawing/2014/main" id="{B6AABD03-4B88-148D-1A7F-3EE0344C3776}"/>
              </a:ext>
            </a:extLst>
          </p:cNvPr>
          <p:cNvSpPr txBox="1"/>
          <p:nvPr/>
        </p:nvSpPr>
        <p:spPr>
          <a:xfrm>
            <a:off x="762001" y="52164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91" name="Text 20">
            <a:extLst>
              <a:ext uri="{FF2B5EF4-FFF2-40B4-BE49-F238E27FC236}">
                <a16:creationId xmlns:a16="http://schemas.microsoft.com/office/drawing/2014/main" id="{508DA9B7-5802-5E2F-777B-F6B7A87A38E4}"/>
              </a:ext>
            </a:extLst>
          </p:cNvPr>
          <p:cNvSpPr txBox="1"/>
          <p:nvPr/>
        </p:nvSpPr>
        <p:spPr>
          <a:xfrm>
            <a:off x="1219201" y="516154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Segoe UI Semibold" panose="020B0702040204020203" pitchFamily="34" charset="0"/>
                <a:ea typeface="Calibri" pitchFamily="34" charset="-122"/>
                <a:cs typeface="Segoe UI Semibold" panose="020B0702040204020203" pitchFamily="34" charset="0"/>
              </a:rPr>
              <a:t>Work-Life Balance</a:t>
            </a:r>
            <a:endParaRPr lang="en-US" sz="16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93" name="Text 21">
            <a:extLst>
              <a:ext uri="{FF2B5EF4-FFF2-40B4-BE49-F238E27FC236}">
                <a16:creationId xmlns:a16="http://schemas.microsoft.com/office/drawing/2014/main" id="{9220FEAD-C6B0-FCBC-24B1-9588FC3AA17C}"/>
              </a:ext>
            </a:extLst>
          </p:cNvPr>
          <p:cNvSpPr txBox="1"/>
          <p:nvPr/>
        </p:nvSpPr>
        <p:spPr>
          <a:xfrm>
            <a:off x="1219201" y="5472444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latin typeface="Segoe UI Semibold" panose="020B0702040204020203" pitchFamily="34" charset="0"/>
                <a:ea typeface="Calibri" pitchFamily="34" charset="-122"/>
                <a:cs typeface="Segoe UI Semibold" panose="020B0702040204020203" pitchFamily="34" charset="0"/>
              </a:rPr>
              <a:t>Poor work-life balance correlates with a 31.2% attrition rate.</a:t>
            </a:r>
            <a:endParaRPr lang="en-US" sz="14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95" name="Picture 94">
            <a:extLst>
              <a:ext uri="{FF2B5EF4-FFF2-40B4-BE49-F238E27FC236}">
                <a16:creationId xmlns:a16="http://schemas.microsoft.com/office/drawing/2014/main" id="{025A8194-AA6F-5BE5-772D-61C247B714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1523" y="847124"/>
            <a:ext cx="5087060" cy="5794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0425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DB0C6FE-3796-F553-9C33-313024670A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9" name="Shape 2">
            <a:extLst>
              <a:ext uri="{FF2B5EF4-FFF2-40B4-BE49-F238E27FC236}">
                <a16:creationId xmlns:a16="http://schemas.microsoft.com/office/drawing/2014/main" id="{C608967C-DA15-F42F-C535-DEE59A80BF99}"/>
              </a:ext>
            </a:extLst>
          </p:cNvPr>
          <p:cNvSpPr/>
          <p:nvPr/>
        </p:nvSpPr>
        <p:spPr>
          <a:xfrm>
            <a:off x="6156960" y="1472665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E7F1F1"/>
          </a:solidFill>
          <a:ln/>
        </p:spPr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50B0D09F-F141-AC78-7728-E1EB54171AB0}"/>
              </a:ext>
            </a:extLst>
          </p:cNvPr>
          <p:cNvSpPr txBox="1"/>
          <p:nvPr/>
        </p:nvSpPr>
        <p:spPr>
          <a:xfrm>
            <a:off x="1740569" y="388620"/>
            <a:ext cx="607755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424A"/>
                </a:solidFill>
                <a:latin typeface="Segoe UI Semibold" panose="020B0702040204020203" pitchFamily="34" charset="0"/>
                <a:ea typeface="Cambria" pitchFamily="34" charset="-122"/>
                <a:cs typeface="Segoe UI Semibold" panose="020B0702040204020203" pitchFamily="34" charset="0"/>
              </a:rPr>
              <a:t>Outlier and Segment Analysis</a:t>
            </a:r>
            <a:endParaRPr lang="en-US" sz="30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117A0A8B-BACE-3B7D-59C9-8DA93C94F639}"/>
              </a:ext>
            </a:extLst>
          </p:cNvPr>
          <p:cNvSpPr/>
          <p:nvPr/>
        </p:nvSpPr>
        <p:spPr>
          <a:xfrm>
            <a:off x="457200" y="146304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E7F1F1"/>
          </a:solidFill>
          <a:ln/>
        </p:spPr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8D9D64E7-9F66-37DB-E560-74E65948656A}"/>
              </a:ext>
            </a:extLst>
          </p:cNvPr>
          <p:cNvSpPr txBox="1"/>
          <p:nvPr/>
        </p:nvSpPr>
        <p:spPr>
          <a:xfrm>
            <a:off x="746760" y="1632685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424A"/>
                </a:solidFill>
                <a:latin typeface="Segoe UI Semibold" panose="020B0702040204020203" pitchFamily="34" charset="0"/>
                <a:ea typeface="Cambria" pitchFamily="34" charset="-122"/>
                <a:cs typeface="Segoe UI Semibold" panose="020B0702040204020203" pitchFamily="34" charset="0"/>
              </a:rPr>
              <a:t>Monthly Income Outliers</a:t>
            </a:r>
            <a:endParaRPr lang="en-US" sz="16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E807AEEC-434A-1B02-949E-F7B93EDC48A8}"/>
              </a:ext>
            </a:extLst>
          </p:cNvPr>
          <p:cNvSpPr txBox="1"/>
          <p:nvPr/>
        </p:nvSpPr>
        <p:spPr>
          <a:xfrm>
            <a:off x="746760" y="2089885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C2B2E"/>
                </a:solidFill>
                <a:latin typeface="Segoe UI Semibold" panose="020B0702040204020203" pitchFamily="34" charset="0"/>
                <a:ea typeface="Calibri" pitchFamily="34" charset="-122"/>
                <a:cs typeface="Segoe UI Semibold" panose="020B0702040204020203" pitchFamily="34" charset="0"/>
              </a:rPr>
              <a:t>114 employees </a:t>
            </a:r>
            <a:r>
              <a:rPr lang="en-US" sz="1300" dirty="0">
                <a:solidFill>
                  <a:srgbClr val="1C2B2E"/>
                </a:solidFill>
                <a:latin typeface="Segoe UI Semibold" panose="020B0702040204020203" pitchFamily="34" charset="0"/>
                <a:ea typeface="Calibri" pitchFamily="34" charset="-122"/>
                <a:cs typeface="Segoe UI Semibold" panose="020B0702040204020203" pitchFamily="34" charset="0"/>
              </a:rPr>
              <a:t>(7.8% of workforce) earn significantly above Normal (&lt;$16,581/month).</a:t>
            </a:r>
            <a:endParaRPr lang="en-US" sz="13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26890CA8-3416-03B9-E851-01BD1A3A2E70}"/>
              </a:ext>
            </a:extLst>
          </p:cNvPr>
          <p:cNvSpPr txBox="1"/>
          <p:nvPr/>
        </p:nvSpPr>
        <p:spPr>
          <a:xfrm>
            <a:off x="746760" y="2775685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C8C6E"/>
                </a:solidFill>
                <a:latin typeface="Segoe UI Semibold" panose="020B0702040204020203" pitchFamily="34" charset="0"/>
                <a:ea typeface="Cambria" pitchFamily="34" charset="-122"/>
                <a:cs typeface="Segoe UI Semibold" panose="020B0702040204020203" pitchFamily="34" charset="0"/>
              </a:rPr>
              <a:t>4.4%</a:t>
            </a:r>
            <a:endParaRPr lang="en-US" sz="30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B75FFDAC-D343-2DBD-8718-28A2FA75146F}"/>
              </a:ext>
            </a:extLst>
          </p:cNvPr>
          <p:cNvSpPr txBox="1"/>
          <p:nvPr/>
        </p:nvSpPr>
        <p:spPr>
          <a:xfrm>
            <a:off x="2209800" y="2867125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Segoe UI Semibold" panose="020B0702040204020203" pitchFamily="34" charset="0"/>
                <a:ea typeface="Calibri" pitchFamily="34" charset="-122"/>
                <a:cs typeface="Segoe UI Semibold" panose="020B0702040204020203" pitchFamily="34" charset="0"/>
              </a:rPr>
              <a:t>vs 17.1% (Normal)</a:t>
            </a:r>
            <a:endParaRPr lang="en-US" sz="11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0" indent="0">
              <a:buNone/>
            </a:pPr>
            <a:r>
              <a:rPr lang="en-US" sz="1100" dirty="0">
                <a:latin typeface="Segoe UI Semibold" panose="020B0702040204020203" pitchFamily="34" charset="0"/>
                <a:ea typeface="Calibri" pitchFamily="34" charset="-122"/>
                <a:cs typeface="Segoe UI Semibold" panose="020B0702040204020203" pitchFamily="34" charset="0"/>
              </a:rPr>
              <a:t>Attrition Rate</a:t>
            </a:r>
            <a:endParaRPr lang="en-US" sz="11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ED7354EB-A753-0743-00B1-B52893EA34F5}"/>
              </a:ext>
            </a:extLst>
          </p:cNvPr>
          <p:cNvSpPr txBox="1"/>
          <p:nvPr/>
        </p:nvSpPr>
        <p:spPr>
          <a:xfrm>
            <a:off x="6278880" y="1632685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424A"/>
                </a:solidFill>
                <a:latin typeface="Segoe UI Semibold" panose="020B0702040204020203" pitchFamily="34" charset="0"/>
                <a:ea typeface="Cambria" pitchFamily="34" charset="-122"/>
                <a:cs typeface="Segoe UI Semibold" panose="020B0702040204020203" pitchFamily="34" charset="0"/>
              </a:rPr>
              <a:t>Job-Hopping Outliers</a:t>
            </a:r>
            <a:endParaRPr lang="en-US" sz="16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B3BBDA42-2EE6-FBA7-73FB-C34116970A70}"/>
              </a:ext>
            </a:extLst>
          </p:cNvPr>
          <p:cNvSpPr txBox="1"/>
          <p:nvPr/>
        </p:nvSpPr>
        <p:spPr>
          <a:xfrm>
            <a:off x="6278880" y="2089885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C2B2E"/>
                </a:solidFill>
                <a:latin typeface="Segoe UI Semibold" panose="020B0702040204020203" pitchFamily="34" charset="0"/>
                <a:ea typeface="Calibri" pitchFamily="34" charset="-122"/>
                <a:cs typeface="Segoe UI Semibold" panose="020B0702040204020203" pitchFamily="34" charset="0"/>
              </a:rPr>
              <a:t>Employees with an unusually high number of previous companies worked show a clear attrition pattern.</a:t>
            </a:r>
            <a:endParaRPr lang="en-US" sz="13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3552C795-980A-62BD-F2B2-AC0291F22ECA}"/>
              </a:ext>
            </a:extLst>
          </p:cNvPr>
          <p:cNvSpPr txBox="1"/>
          <p:nvPr/>
        </p:nvSpPr>
        <p:spPr>
          <a:xfrm>
            <a:off x="6278880" y="2775685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0392B"/>
                </a:solidFill>
                <a:latin typeface="Segoe UI Semibold" panose="020B0702040204020203" pitchFamily="34" charset="0"/>
                <a:ea typeface="Cambria" pitchFamily="34" charset="-122"/>
                <a:cs typeface="Segoe UI Semibold" panose="020B0702040204020203" pitchFamily="34" charset="0"/>
              </a:rPr>
              <a:t>23.1%</a:t>
            </a:r>
            <a:endParaRPr lang="en-US" sz="30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E0215681-2465-95B4-CF9F-9EBC10C78AD5}"/>
              </a:ext>
            </a:extLst>
          </p:cNvPr>
          <p:cNvSpPr txBox="1"/>
          <p:nvPr/>
        </p:nvSpPr>
        <p:spPr>
          <a:xfrm>
            <a:off x="7787640" y="2867125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Segoe UI Semibold" panose="020B0702040204020203" pitchFamily="34" charset="0"/>
                <a:ea typeface="Calibri" pitchFamily="34" charset="-122"/>
                <a:cs typeface="Segoe UI Semibold" panose="020B0702040204020203" pitchFamily="34" charset="0"/>
              </a:rPr>
              <a:t>vs 15.9% (Normal)</a:t>
            </a:r>
            <a:endParaRPr lang="en-US" sz="11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0" indent="0">
              <a:buNone/>
            </a:pPr>
            <a:r>
              <a:rPr lang="en-US" sz="1100" dirty="0">
                <a:latin typeface="Segoe UI Semibold" panose="020B0702040204020203" pitchFamily="34" charset="0"/>
                <a:ea typeface="Calibri" pitchFamily="34" charset="-122"/>
                <a:cs typeface="Segoe UI Semibold" panose="020B0702040204020203" pitchFamily="34" charset="0"/>
              </a:rPr>
              <a:t>Attrition Rate</a:t>
            </a:r>
            <a:endParaRPr lang="en-US" sz="11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A493ECB0-9220-C31F-CD81-28B69FC418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989" y="3657600"/>
            <a:ext cx="3866148" cy="3045683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FF602785-3142-A0AE-3E45-23D3DB29677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1825" y="3712945"/>
            <a:ext cx="3866149" cy="2990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351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7C98999-5943-2636-88F6-6CF379D4EB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45CA1B25-E666-E15A-9E77-1FFA20BBDEE2}"/>
              </a:ext>
            </a:extLst>
          </p:cNvPr>
          <p:cNvSpPr txBox="1"/>
          <p:nvPr/>
        </p:nvSpPr>
        <p:spPr>
          <a:xfrm>
            <a:off x="1728813" y="297857"/>
            <a:ext cx="8971272" cy="566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424A"/>
                </a:solidFill>
                <a:latin typeface="Segoe UI Semibold" panose="020B0702040204020203" pitchFamily="34" charset="0"/>
                <a:ea typeface="Cambria" pitchFamily="34" charset="-122"/>
                <a:cs typeface="Segoe UI Semibold" panose="020B0702040204020203" pitchFamily="34" charset="0"/>
              </a:rPr>
              <a:t>Risk Score: A Composite Retention Indicator</a:t>
            </a:r>
            <a:endParaRPr lang="en-US" sz="28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C432731F-F5D8-68C1-F473-137C310656D1}"/>
              </a:ext>
            </a:extLst>
          </p:cNvPr>
          <p:cNvSpPr txBox="1"/>
          <p:nvPr/>
        </p:nvSpPr>
        <p:spPr>
          <a:xfrm>
            <a:off x="798370" y="1070606"/>
            <a:ext cx="82333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latin typeface="Segoe UI Semibold" panose="020B0702040204020203" pitchFamily="34" charset="0"/>
                <a:ea typeface="Calibri" pitchFamily="34" charset="-122"/>
                <a:cs typeface="Segoe UI Semibold" panose="020B0702040204020203" pitchFamily="34" charset="0"/>
              </a:rPr>
              <a:t>Combines: Overtime, Low Job Involvement, No Stock Options, Single Marital Status, </a:t>
            </a:r>
          </a:p>
          <a:p>
            <a:pPr marL="0" indent="0">
              <a:buNone/>
            </a:pPr>
            <a:r>
              <a:rPr lang="en-US" sz="1300" i="1" dirty="0">
                <a:latin typeface="Segoe UI Semibold" panose="020B0702040204020203" pitchFamily="34" charset="0"/>
                <a:ea typeface="Calibri" pitchFamily="34" charset="-122"/>
                <a:cs typeface="Segoe UI Semibold" panose="020B0702040204020203" pitchFamily="34" charset="0"/>
              </a:rPr>
              <a:t>Poor Work-Life Balance, and Low Job Satisfaction (0–6 scale)</a:t>
            </a:r>
            <a:endParaRPr lang="en-US" sz="13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graphicFrame>
        <p:nvGraphicFramePr>
          <p:cNvPr id="11" name="Chart 0">
            <a:extLst>
              <a:ext uri="{FF2B5EF4-FFF2-40B4-BE49-F238E27FC236}">
                <a16:creationId xmlns:a16="http://schemas.microsoft.com/office/drawing/2014/main" id="{9BE6495E-1388-D1B2-0E18-D9615E4017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86998565"/>
              </p:ext>
            </p:extLst>
          </p:nvPr>
        </p:nvGraphicFramePr>
        <p:xfrm>
          <a:off x="641684" y="1874519"/>
          <a:ext cx="6513095" cy="43498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Shape 2">
            <a:extLst>
              <a:ext uri="{FF2B5EF4-FFF2-40B4-BE49-F238E27FC236}">
                <a16:creationId xmlns:a16="http://schemas.microsoft.com/office/drawing/2014/main" id="{388F6AF1-C0AF-D4ED-B3BB-27FEF6C8929D}"/>
              </a:ext>
            </a:extLst>
          </p:cNvPr>
          <p:cNvSpPr/>
          <p:nvPr/>
        </p:nvSpPr>
        <p:spPr>
          <a:xfrm>
            <a:off x="7914602" y="1600199"/>
            <a:ext cx="3789717" cy="4624138"/>
          </a:xfrm>
          <a:prstGeom prst="roundRect">
            <a:avLst>
              <a:gd name="adj" fmla="val 1905"/>
            </a:avLst>
          </a:prstGeom>
          <a:solidFill>
            <a:srgbClr val="16424A"/>
          </a:solidFill>
          <a:ln/>
        </p:spPr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EE666D90-04D5-5318-60A7-80D85E3C4D65}"/>
              </a:ext>
            </a:extLst>
          </p:cNvPr>
          <p:cNvSpPr txBox="1"/>
          <p:nvPr/>
        </p:nvSpPr>
        <p:spPr>
          <a:xfrm>
            <a:off x="8181672" y="1874519"/>
            <a:ext cx="3248328" cy="471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4A373"/>
                </a:solidFill>
                <a:latin typeface="Segoe UI Semibold" panose="020B0702040204020203" pitchFamily="34" charset="0"/>
                <a:ea typeface="Cambria" pitchFamily="34" charset="-122"/>
                <a:cs typeface="Segoe UI Semibold" panose="020B0702040204020203" pitchFamily="34" charset="0"/>
              </a:rPr>
              <a:t>High-Priority Segment</a:t>
            </a:r>
            <a:endParaRPr lang="en-US" sz="17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851CC9E5-AA17-E5EC-3E8F-0EBD2B172CA1}"/>
              </a:ext>
            </a:extLst>
          </p:cNvPr>
          <p:cNvSpPr txBox="1"/>
          <p:nvPr/>
        </p:nvSpPr>
        <p:spPr>
          <a:xfrm>
            <a:off x="8181672" y="2468879"/>
            <a:ext cx="3248328" cy="849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 Semibold" panose="020B0702040204020203" pitchFamily="34" charset="0"/>
                <a:ea typeface="Cambria" pitchFamily="34" charset="-122"/>
                <a:cs typeface="Segoe UI Semibold" panose="020B0702040204020203" pitchFamily="34" charset="0"/>
              </a:rPr>
              <a:t>Score ≥ 4</a:t>
            </a:r>
            <a:endParaRPr lang="en-US" sz="40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DD68D2DA-2BE7-8C90-93B3-7D4036A8A68B}"/>
              </a:ext>
            </a:extLst>
          </p:cNvPr>
          <p:cNvSpPr txBox="1"/>
          <p:nvPr/>
        </p:nvSpPr>
        <p:spPr>
          <a:xfrm>
            <a:off x="8181672" y="3429000"/>
            <a:ext cx="3248328" cy="1226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7F1F1"/>
                </a:solidFill>
                <a:latin typeface="Segoe UI Semibold" panose="020B0702040204020203" pitchFamily="34" charset="0"/>
                <a:ea typeface="Calibri" pitchFamily="34" charset="-122"/>
                <a:cs typeface="Segoe UI Semibold" panose="020B0702040204020203" pitchFamily="34" charset="0"/>
              </a:rPr>
              <a:t>Employees scoring 4 or higher show attrition rates of 45.9% and 66.7% requiring immediate retention intervention.</a:t>
            </a:r>
            <a:endParaRPr lang="en-US" sz="13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C06A6F55-143C-88C0-DE38-0F7C4E06CA17}"/>
              </a:ext>
            </a:extLst>
          </p:cNvPr>
          <p:cNvSpPr txBox="1"/>
          <p:nvPr/>
        </p:nvSpPr>
        <p:spPr>
          <a:xfrm>
            <a:off x="8181672" y="4983479"/>
            <a:ext cx="3248328" cy="849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373"/>
                </a:solidFill>
                <a:latin typeface="Segoe UI Semibold" panose="020B0702040204020203" pitchFamily="34" charset="0"/>
                <a:ea typeface="Calibri" pitchFamily="34" charset="-122"/>
                <a:cs typeface="Segoe UI Semibold" panose="020B0702040204020203" pitchFamily="34" charset="0"/>
              </a:rPr>
              <a:t>138 employees</a:t>
            </a:r>
            <a:endParaRPr lang="en-US" sz="14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D4A373"/>
                </a:solidFill>
                <a:latin typeface="Segoe UI Semibold" panose="020B0702040204020203" pitchFamily="34" charset="0"/>
                <a:ea typeface="Calibri" pitchFamily="34" charset="-122"/>
                <a:cs typeface="Segoe UI Semibold" panose="020B0702040204020203" pitchFamily="34" charset="0"/>
              </a:rPr>
              <a:t>(9.4% of workforce)</a:t>
            </a:r>
            <a:endParaRPr lang="en-US" sz="14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70821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F8F92A6-1CCB-D19D-4C66-FE2781FCD2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 0">
            <a:extLst>
              <a:ext uri="{FF2B5EF4-FFF2-40B4-BE49-F238E27FC236}">
                <a16:creationId xmlns:a16="http://schemas.microsoft.com/office/drawing/2014/main" id="{463B1BB4-4B7B-127B-4BB8-F0DD6EE7571E}"/>
              </a:ext>
            </a:extLst>
          </p:cNvPr>
          <p:cNvSpPr txBox="1"/>
          <p:nvPr/>
        </p:nvSpPr>
        <p:spPr>
          <a:xfrm>
            <a:off x="1712494" y="502920"/>
            <a:ext cx="876701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9716F"/>
                </a:solidFill>
                <a:latin typeface="Segoe UI Semibold" panose="020B0702040204020203" pitchFamily="34" charset="0"/>
                <a:ea typeface="Cambria" pitchFamily="34" charset="-122"/>
                <a:cs typeface="Segoe UI Semibold" panose="020B0702040204020203" pitchFamily="34" charset="0"/>
              </a:rPr>
              <a:t>Recommendations</a:t>
            </a:r>
            <a:endParaRPr lang="en-US" sz="3200" dirty="0">
              <a:solidFill>
                <a:srgbClr val="29716F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0" name="Shape 1">
            <a:extLst>
              <a:ext uri="{FF2B5EF4-FFF2-40B4-BE49-F238E27FC236}">
                <a16:creationId xmlns:a16="http://schemas.microsoft.com/office/drawing/2014/main" id="{273C8E16-39D8-7EDF-22BD-32B5C51518E6}"/>
              </a:ext>
            </a:extLst>
          </p:cNvPr>
          <p:cNvSpPr/>
          <p:nvPr/>
        </p:nvSpPr>
        <p:spPr>
          <a:xfrm>
            <a:off x="457200" y="1371600"/>
            <a:ext cx="10881360" cy="822960"/>
          </a:xfrm>
          <a:prstGeom prst="roundRect">
            <a:avLst>
              <a:gd name="adj" fmla="val 6667"/>
            </a:avLst>
          </a:prstGeom>
          <a:solidFill>
            <a:srgbClr val="1D5960"/>
          </a:solidFill>
          <a:ln/>
        </p:spPr>
      </p:sp>
      <p:sp>
        <p:nvSpPr>
          <p:cNvPr id="12" name="Shape 2">
            <a:extLst>
              <a:ext uri="{FF2B5EF4-FFF2-40B4-BE49-F238E27FC236}">
                <a16:creationId xmlns:a16="http://schemas.microsoft.com/office/drawing/2014/main" id="{49A70EAD-C465-9E5A-64B9-94AE73F5B9E5}"/>
              </a:ext>
            </a:extLst>
          </p:cNvPr>
          <p:cNvSpPr/>
          <p:nvPr/>
        </p:nvSpPr>
        <p:spPr>
          <a:xfrm>
            <a:off x="685800" y="1536192"/>
            <a:ext cx="502920" cy="502920"/>
          </a:xfrm>
          <a:prstGeom prst="ellipse">
            <a:avLst/>
          </a:prstGeom>
          <a:solidFill>
            <a:srgbClr val="D4A373"/>
          </a:solidFill>
          <a:ln/>
        </p:spPr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417EC1FF-D427-F55B-E1CA-B17E9E2AC01F}"/>
              </a:ext>
            </a:extLst>
          </p:cNvPr>
          <p:cNvSpPr txBox="1"/>
          <p:nvPr/>
        </p:nvSpPr>
        <p:spPr>
          <a:xfrm>
            <a:off x="685800" y="1536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4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159E4089-4954-C601-CC6F-96988C9903F3}"/>
              </a:ext>
            </a:extLst>
          </p:cNvPr>
          <p:cNvSpPr txBox="1"/>
          <p:nvPr/>
        </p:nvSpPr>
        <p:spPr>
          <a:xfrm>
            <a:off x="1371600" y="1444752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 Semibold" panose="020B0702040204020203" pitchFamily="34" charset="0"/>
                <a:ea typeface="Calibri" pitchFamily="34" charset="-122"/>
                <a:cs typeface="Segoe UI Semibold" panose="020B0702040204020203" pitchFamily="34" charset="0"/>
              </a:rPr>
              <a:t>Review overtime policies</a:t>
            </a:r>
            <a:endParaRPr lang="en-US" sz="15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3824D8BB-9D72-1B1A-2D89-F11586FCA09A}"/>
              </a:ext>
            </a:extLst>
          </p:cNvPr>
          <p:cNvSpPr txBox="1"/>
          <p:nvPr/>
        </p:nvSpPr>
        <p:spPr>
          <a:xfrm>
            <a:off x="1371600" y="1755648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9DEDE"/>
                </a:solidFill>
                <a:latin typeface="Segoe UI Semibold" panose="020B0702040204020203" pitchFamily="34" charset="0"/>
                <a:ea typeface="Calibri" pitchFamily="34" charset="-122"/>
                <a:cs typeface="Segoe UI Semibold" panose="020B0702040204020203" pitchFamily="34" charset="0"/>
              </a:rPr>
              <a:t>The single strongest attrition driver; consider workload redistribution .</a:t>
            </a:r>
            <a:endParaRPr lang="en-US" sz="12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0" name="Shape 6">
            <a:extLst>
              <a:ext uri="{FF2B5EF4-FFF2-40B4-BE49-F238E27FC236}">
                <a16:creationId xmlns:a16="http://schemas.microsoft.com/office/drawing/2014/main" id="{569A4A17-AA70-046B-46EA-63C00C84BC1C}"/>
              </a:ext>
            </a:extLst>
          </p:cNvPr>
          <p:cNvSpPr/>
          <p:nvPr/>
        </p:nvSpPr>
        <p:spPr>
          <a:xfrm>
            <a:off x="457200" y="2331720"/>
            <a:ext cx="10881360" cy="822960"/>
          </a:xfrm>
          <a:prstGeom prst="roundRect">
            <a:avLst>
              <a:gd name="adj" fmla="val 6667"/>
            </a:avLst>
          </a:prstGeom>
          <a:solidFill>
            <a:srgbClr val="1D5960"/>
          </a:solidFill>
          <a:ln/>
        </p:spPr>
      </p:sp>
      <p:sp>
        <p:nvSpPr>
          <p:cNvPr id="22" name="Shape 7">
            <a:extLst>
              <a:ext uri="{FF2B5EF4-FFF2-40B4-BE49-F238E27FC236}">
                <a16:creationId xmlns:a16="http://schemas.microsoft.com/office/drawing/2014/main" id="{6E2EC06E-F507-E1C0-7F12-C738B2F0CD24}"/>
              </a:ext>
            </a:extLst>
          </p:cNvPr>
          <p:cNvSpPr/>
          <p:nvPr/>
        </p:nvSpPr>
        <p:spPr>
          <a:xfrm>
            <a:off x="685800" y="2496312"/>
            <a:ext cx="502920" cy="502920"/>
          </a:xfrm>
          <a:prstGeom prst="ellipse">
            <a:avLst/>
          </a:prstGeom>
          <a:solidFill>
            <a:srgbClr val="D4A373"/>
          </a:solidFill>
          <a:ln/>
        </p:spPr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3AE65606-0A79-0AFF-C36A-63D8A84F1695}"/>
              </a:ext>
            </a:extLst>
          </p:cNvPr>
          <p:cNvSpPr txBox="1"/>
          <p:nvPr/>
        </p:nvSpPr>
        <p:spPr>
          <a:xfrm>
            <a:off x="685800" y="2496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4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78C29EE9-97FD-4415-C402-B47CCBC38C7F}"/>
              </a:ext>
            </a:extLst>
          </p:cNvPr>
          <p:cNvSpPr txBox="1"/>
          <p:nvPr/>
        </p:nvSpPr>
        <p:spPr>
          <a:xfrm>
            <a:off x="1371600" y="2404872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 Semibold" panose="020B0702040204020203" pitchFamily="34" charset="0"/>
                <a:ea typeface="Calibri" pitchFamily="34" charset="-122"/>
                <a:cs typeface="Segoe UI Semibold" panose="020B0702040204020203" pitchFamily="34" charset="0"/>
              </a:rPr>
              <a:t>Expand stock option eligibility</a:t>
            </a:r>
            <a:endParaRPr lang="en-US" sz="15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FBEEF049-BCDD-00C7-BBFF-40E3B97084EA}"/>
              </a:ext>
            </a:extLst>
          </p:cNvPr>
          <p:cNvSpPr txBox="1"/>
          <p:nvPr/>
        </p:nvSpPr>
        <p:spPr>
          <a:xfrm>
            <a:off x="1371600" y="2715768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9DEDE"/>
                </a:solidFill>
                <a:latin typeface="Segoe UI Semibold" panose="020B0702040204020203" pitchFamily="34" charset="0"/>
                <a:ea typeface="Calibri" pitchFamily="34" charset="-122"/>
                <a:cs typeface="Segoe UI Semibold" panose="020B0702040204020203" pitchFamily="34" charset="0"/>
              </a:rPr>
              <a:t>Particularly for currently excluded employees, given the strong link to retention.</a:t>
            </a:r>
            <a:endParaRPr lang="en-US" sz="12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0" name="Shape 11">
            <a:extLst>
              <a:ext uri="{FF2B5EF4-FFF2-40B4-BE49-F238E27FC236}">
                <a16:creationId xmlns:a16="http://schemas.microsoft.com/office/drawing/2014/main" id="{844F4880-F13A-1BBA-7233-5DD40365BA2F}"/>
              </a:ext>
            </a:extLst>
          </p:cNvPr>
          <p:cNvSpPr/>
          <p:nvPr/>
        </p:nvSpPr>
        <p:spPr>
          <a:xfrm>
            <a:off x="457200" y="3291840"/>
            <a:ext cx="10881360" cy="822960"/>
          </a:xfrm>
          <a:prstGeom prst="roundRect">
            <a:avLst>
              <a:gd name="adj" fmla="val 6667"/>
            </a:avLst>
          </a:prstGeom>
          <a:solidFill>
            <a:srgbClr val="1D5960"/>
          </a:solidFill>
          <a:ln/>
        </p:spPr>
      </p:sp>
      <p:sp>
        <p:nvSpPr>
          <p:cNvPr id="32" name="Shape 12">
            <a:extLst>
              <a:ext uri="{FF2B5EF4-FFF2-40B4-BE49-F238E27FC236}">
                <a16:creationId xmlns:a16="http://schemas.microsoft.com/office/drawing/2014/main" id="{F7EF9FB9-AC56-25CA-2CF2-6A49B2ADAA9B}"/>
              </a:ext>
            </a:extLst>
          </p:cNvPr>
          <p:cNvSpPr/>
          <p:nvPr/>
        </p:nvSpPr>
        <p:spPr>
          <a:xfrm>
            <a:off x="685800" y="3456432"/>
            <a:ext cx="502920" cy="502920"/>
          </a:xfrm>
          <a:prstGeom prst="ellipse">
            <a:avLst/>
          </a:prstGeom>
          <a:solidFill>
            <a:srgbClr val="D4A373"/>
          </a:solidFill>
          <a:ln/>
        </p:spPr>
      </p:sp>
      <p:sp>
        <p:nvSpPr>
          <p:cNvPr id="34" name="Text 13">
            <a:extLst>
              <a:ext uri="{FF2B5EF4-FFF2-40B4-BE49-F238E27FC236}">
                <a16:creationId xmlns:a16="http://schemas.microsoft.com/office/drawing/2014/main" id="{D0A5C946-D060-541B-DAE9-E91B4F6054F4}"/>
              </a:ext>
            </a:extLst>
          </p:cNvPr>
          <p:cNvSpPr txBox="1"/>
          <p:nvPr/>
        </p:nvSpPr>
        <p:spPr>
          <a:xfrm>
            <a:off x="685800" y="3456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4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36" name="Text 14">
            <a:extLst>
              <a:ext uri="{FF2B5EF4-FFF2-40B4-BE49-F238E27FC236}">
                <a16:creationId xmlns:a16="http://schemas.microsoft.com/office/drawing/2014/main" id="{F05FC07E-B7EA-611B-0D6F-193BB3AB3BBD}"/>
              </a:ext>
            </a:extLst>
          </p:cNvPr>
          <p:cNvSpPr txBox="1"/>
          <p:nvPr/>
        </p:nvSpPr>
        <p:spPr>
          <a:xfrm>
            <a:off x="1371600" y="3364992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 Semibold" panose="020B0702040204020203" pitchFamily="34" charset="0"/>
                <a:ea typeface="Calibri" pitchFamily="34" charset="-122"/>
                <a:cs typeface="Segoe UI Semibold" panose="020B0702040204020203" pitchFamily="34" charset="0"/>
              </a:rPr>
              <a:t>Launch work programs</a:t>
            </a:r>
            <a:endParaRPr lang="en-US" sz="15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8" name="Text 15">
            <a:extLst>
              <a:ext uri="{FF2B5EF4-FFF2-40B4-BE49-F238E27FC236}">
                <a16:creationId xmlns:a16="http://schemas.microsoft.com/office/drawing/2014/main" id="{FB941A3E-5DE7-8E50-143A-0FFE0E5B293D}"/>
              </a:ext>
            </a:extLst>
          </p:cNvPr>
          <p:cNvSpPr txBox="1"/>
          <p:nvPr/>
        </p:nvSpPr>
        <p:spPr>
          <a:xfrm>
            <a:off x="1371600" y="3675888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9DEDE"/>
                </a:solidFill>
                <a:latin typeface="Segoe UI Semibold" panose="020B0702040204020203" pitchFamily="34" charset="0"/>
                <a:ea typeface="Calibri" pitchFamily="34" charset="-122"/>
                <a:cs typeface="Segoe UI Semibold" panose="020B0702040204020203" pitchFamily="34" charset="0"/>
              </a:rPr>
              <a:t>Target employees with low Job Involvement scores.</a:t>
            </a:r>
            <a:endParaRPr lang="en-US" sz="12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40" name="Shape 16">
            <a:extLst>
              <a:ext uri="{FF2B5EF4-FFF2-40B4-BE49-F238E27FC236}">
                <a16:creationId xmlns:a16="http://schemas.microsoft.com/office/drawing/2014/main" id="{AC1B6C4E-BF2D-8674-8C98-118515D135CC}"/>
              </a:ext>
            </a:extLst>
          </p:cNvPr>
          <p:cNvSpPr/>
          <p:nvPr/>
        </p:nvSpPr>
        <p:spPr>
          <a:xfrm>
            <a:off x="457200" y="4251960"/>
            <a:ext cx="10881360" cy="822960"/>
          </a:xfrm>
          <a:prstGeom prst="roundRect">
            <a:avLst>
              <a:gd name="adj" fmla="val 6667"/>
            </a:avLst>
          </a:prstGeom>
          <a:solidFill>
            <a:srgbClr val="1D5960"/>
          </a:solidFill>
          <a:ln/>
        </p:spPr>
      </p:sp>
      <p:sp>
        <p:nvSpPr>
          <p:cNvPr id="42" name="Shape 17">
            <a:extLst>
              <a:ext uri="{FF2B5EF4-FFF2-40B4-BE49-F238E27FC236}">
                <a16:creationId xmlns:a16="http://schemas.microsoft.com/office/drawing/2014/main" id="{352EE2DE-005F-7E04-0DD4-595D30E88286}"/>
              </a:ext>
            </a:extLst>
          </p:cNvPr>
          <p:cNvSpPr/>
          <p:nvPr/>
        </p:nvSpPr>
        <p:spPr>
          <a:xfrm>
            <a:off x="685800" y="4416552"/>
            <a:ext cx="502920" cy="502920"/>
          </a:xfrm>
          <a:prstGeom prst="ellipse">
            <a:avLst/>
          </a:prstGeom>
          <a:solidFill>
            <a:srgbClr val="D4A373"/>
          </a:solidFill>
          <a:ln/>
        </p:spPr>
      </p:sp>
      <p:sp>
        <p:nvSpPr>
          <p:cNvPr id="44" name="Text 18">
            <a:extLst>
              <a:ext uri="{FF2B5EF4-FFF2-40B4-BE49-F238E27FC236}">
                <a16:creationId xmlns:a16="http://schemas.microsoft.com/office/drawing/2014/main" id="{DDAE1E67-A03D-EDE9-8E34-55275C4D2265}"/>
              </a:ext>
            </a:extLst>
          </p:cNvPr>
          <p:cNvSpPr txBox="1"/>
          <p:nvPr/>
        </p:nvSpPr>
        <p:spPr>
          <a:xfrm>
            <a:off x="685800" y="4416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4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46" name="Text 19">
            <a:extLst>
              <a:ext uri="{FF2B5EF4-FFF2-40B4-BE49-F238E27FC236}">
                <a16:creationId xmlns:a16="http://schemas.microsoft.com/office/drawing/2014/main" id="{66DAFB5E-7D9A-81D2-81F3-0E791BA0CF73}"/>
              </a:ext>
            </a:extLst>
          </p:cNvPr>
          <p:cNvSpPr txBox="1"/>
          <p:nvPr/>
        </p:nvSpPr>
        <p:spPr>
          <a:xfrm>
            <a:off x="1371600" y="4325112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 Semibold" panose="020B0702040204020203" pitchFamily="34" charset="0"/>
                <a:ea typeface="Calibri" pitchFamily="34" charset="-122"/>
                <a:cs typeface="Segoe UI Semibold" panose="020B0702040204020203" pitchFamily="34" charset="0"/>
              </a:rPr>
              <a:t>Review compensation structures</a:t>
            </a:r>
            <a:endParaRPr lang="en-US" sz="15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48" name="Text 20">
            <a:extLst>
              <a:ext uri="{FF2B5EF4-FFF2-40B4-BE49-F238E27FC236}">
                <a16:creationId xmlns:a16="http://schemas.microsoft.com/office/drawing/2014/main" id="{E369D13B-DAAF-F7B9-1304-449350B4BE87}"/>
              </a:ext>
            </a:extLst>
          </p:cNvPr>
          <p:cNvSpPr txBox="1"/>
          <p:nvPr/>
        </p:nvSpPr>
        <p:spPr>
          <a:xfrm>
            <a:off x="1371600" y="4636008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9DEDE"/>
                </a:solidFill>
                <a:latin typeface="Segoe UI Semibold" panose="020B0702040204020203" pitchFamily="34" charset="0"/>
                <a:ea typeface="Calibri" pitchFamily="34" charset="-122"/>
                <a:cs typeface="Segoe UI Semibold" panose="020B0702040204020203" pitchFamily="34" charset="0"/>
              </a:rPr>
              <a:t>For mid-tier employees, informed by the income-retention relationship in outlier analysis.</a:t>
            </a:r>
            <a:endParaRPr lang="en-US" sz="12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50" name="Shape 21">
            <a:extLst>
              <a:ext uri="{FF2B5EF4-FFF2-40B4-BE49-F238E27FC236}">
                <a16:creationId xmlns:a16="http://schemas.microsoft.com/office/drawing/2014/main" id="{F30CE5D7-C719-D86A-3942-0A373EE7B0D7}"/>
              </a:ext>
            </a:extLst>
          </p:cNvPr>
          <p:cNvSpPr/>
          <p:nvPr/>
        </p:nvSpPr>
        <p:spPr>
          <a:xfrm>
            <a:off x="457200" y="5212080"/>
            <a:ext cx="10881360" cy="822960"/>
          </a:xfrm>
          <a:prstGeom prst="roundRect">
            <a:avLst>
              <a:gd name="adj" fmla="val 6667"/>
            </a:avLst>
          </a:prstGeom>
          <a:solidFill>
            <a:srgbClr val="1D5960"/>
          </a:solidFill>
          <a:ln/>
        </p:spPr>
      </p:sp>
      <p:sp>
        <p:nvSpPr>
          <p:cNvPr id="52" name="Shape 22">
            <a:extLst>
              <a:ext uri="{FF2B5EF4-FFF2-40B4-BE49-F238E27FC236}">
                <a16:creationId xmlns:a16="http://schemas.microsoft.com/office/drawing/2014/main" id="{B4D444BC-9F1F-8D2D-E37F-10D34BCF027C}"/>
              </a:ext>
            </a:extLst>
          </p:cNvPr>
          <p:cNvSpPr/>
          <p:nvPr/>
        </p:nvSpPr>
        <p:spPr>
          <a:xfrm>
            <a:off x="685800" y="5376672"/>
            <a:ext cx="502920" cy="502920"/>
          </a:xfrm>
          <a:prstGeom prst="ellipse">
            <a:avLst/>
          </a:prstGeom>
          <a:solidFill>
            <a:srgbClr val="D4A373"/>
          </a:solidFill>
          <a:ln/>
        </p:spPr>
      </p:sp>
      <p:sp>
        <p:nvSpPr>
          <p:cNvPr id="54" name="Text 23">
            <a:extLst>
              <a:ext uri="{FF2B5EF4-FFF2-40B4-BE49-F238E27FC236}">
                <a16:creationId xmlns:a16="http://schemas.microsoft.com/office/drawing/2014/main" id="{53743B56-A5F1-8BBF-FC90-B2C89BB1FDE8}"/>
              </a:ext>
            </a:extLst>
          </p:cNvPr>
          <p:cNvSpPr txBox="1"/>
          <p:nvPr/>
        </p:nvSpPr>
        <p:spPr>
          <a:xfrm>
            <a:off x="685800" y="5376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4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56" name="Text 24">
            <a:extLst>
              <a:ext uri="{FF2B5EF4-FFF2-40B4-BE49-F238E27FC236}">
                <a16:creationId xmlns:a16="http://schemas.microsoft.com/office/drawing/2014/main" id="{61843BEB-276D-9168-9B4C-BF6DBC78AC43}"/>
              </a:ext>
            </a:extLst>
          </p:cNvPr>
          <p:cNvSpPr txBox="1"/>
          <p:nvPr/>
        </p:nvSpPr>
        <p:spPr>
          <a:xfrm>
            <a:off x="1371600" y="5285232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 Semibold" panose="020B0702040204020203" pitchFamily="34" charset="0"/>
                <a:ea typeface="Calibri" pitchFamily="34" charset="-122"/>
                <a:cs typeface="Segoe UI Semibold" panose="020B0702040204020203" pitchFamily="34" charset="0"/>
              </a:rPr>
              <a:t>Prioritize high Risk Score employees (4+)</a:t>
            </a:r>
            <a:endParaRPr lang="en-US" sz="15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58" name="Text 25">
            <a:extLst>
              <a:ext uri="{FF2B5EF4-FFF2-40B4-BE49-F238E27FC236}">
                <a16:creationId xmlns:a16="http://schemas.microsoft.com/office/drawing/2014/main" id="{9CF417B5-77E6-B4C1-0834-25E4070A6AB4}"/>
              </a:ext>
            </a:extLst>
          </p:cNvPr>
          <p:cNvSpPr txBox="1"/>
          <p:nvPr/>
        </p:nvSpPr>
        <p:spPr>
          <a:xfrm>
            <a:off x="1371600" y="5596128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9DEDE"/>
                </a:solidFill>
                <a:latin typeface="Segoe UI Semibold" panose="020B0702040204020203" pitchFamily="34" charset="0"/>
                <a:ea typeface="Calibri" pitchFamily="34" charset="-122"/>
                <a:cs typeface="Segoe UI Semibold" panose="020B0702040204020203" pitchFamily="34" charset="0"/>
              </a:rPr>
              <a:t>For proactive retention conversations and career development plans.</a:t>
            </a:r>
            <a:endParaRPr lang="en-US" sz="12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60" name="Text 26">
            <a:extLst>
              <a:ext uri="{FF2B5EF4-FFF2-40B4-BE49-F238E27FC236}">
                <a16:creationId xmlns:a16="http://schemas.microsoft.com/office/drawing/2014/main" id="{00E30029-DD48-EEF1-D8EC-20AF03EE50EA}"/>
              </a:ext>
            </a:extLst>
          </p:cNvPr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9622096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476</Words>
  <Application>Microsoft Office PowerPoint</Application>
  <PresentationFormat>Widescreen</PresentationFormat>
  <Paragraphs>86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Calibri Light</vt:lpstr>
      <vt:lpstr>Cambria</vt:lpstr>
      <vt:lpstr>Segoe UI Semibold</vt:lpstr>
      <vt:lpstr>Segoe UI Semilight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Mohamed Abdo</dc:creator>
  <cp:lastModifiedBy>Mohamed Abdo</cp:lastModifiedBy>
  <cp:revision>4</cp:revision>
  <dcterms:created xsi:type="dcterms:W3CDTF">2026-09-24T02:16:58Z</dcterms:created>
  <dcterms:modified xsi:type="dcterms:W3CDTF">2026-09-24T04:10:22Z</dcterms:modified>
</cp:coreProperties>
</file>